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oto Serif Bold" charset="1" panose="02020800060500020200"/>
      <p:regular r:id="rId19"/>
    </p:embeddedFont>
    <p:embeddedFont>
      <p:font typeface="Noto Serif" charset="1" panose="020206000605000202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8715" y="0"/>
            <a:ext cx="5532809" cy="2976853"/>
            <a:chOff x="0" y="0"/>
            <a:chExt cx="10165721" cy="5469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5721" cy="5469528"/>
            </a:xfrm>
            <a:custGeom>
              <a:avLst/>
              <a:gdLst/>
              <a:ahLst/>
              <a:cxnLst/>
              <a:rect r="r" b="b" t="t" l="l"/>
              <a:pathLst>
                <a:path h="5469528" w="10165721">
                  <a:moveTo>
                    <a:pt x="0" y="0"/>
                  </a:moveTo>
                  <a:lnTo>
                    <a:pt x="10165721" y="0"/>
                  </a:lnTo>
                  <a:lnTo>
                    <a:pt x="10165721" y="5469528"/>
                  </a:lnTo>
                  <a:lnTo>
                    <a:pt x="0" y="5469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003" t="0" r="-500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13745" y="311078"/>
            <a:ext cx="3461183" cy="2978847"/>
            <a:chOff x="0" y="0"/>
            <a:chExt cx="9144000" cy="78697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7869732"/>
            </a:xfrm>
            <a:custGeom>
              <a:avLst/>
              <a:gdLst/>
              <a:ahLst/>
              <a:cxnLst/>
              <a:rect r="r" b="b" t="t" l="l"/>
              <a:pathLst>
                <a:path h="786973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869732"/>
                  </a:lnTo>
                  <a:lnTo>
                    <a:pt x="0" y="7869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096" r="0" b="-809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490222" y="3518761"/>
            <a:ext cx="3307556" cy="124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7"/>
              </a:lnSpc>
            </a:pPr>
            <a:r>
              <a:rPr lang="en-US" sz="7974" b="true">
                <a:solidFill>
                  <a:srgbClr val="3A3A3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पेटBOT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21238" y="5234522"/>
            <a:ext cx="9445523" cy="161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074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AI-Powered Restaurant Revenue Intelligence Platform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21238" y="7223706"/>
            <a:ext cx="9445523" cy="123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7"/>
              </a:lnSpc>
            </a:pPr>
            <a:r>
              <a:rPr lang="en-US" sz="3137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Team Name : Cosmosapiens</a:t>
            </a:r>
          </a:p>
          <a:p>
            <a:pPr algn="ctr">
              <a:lnSpc>
                <a:spcPts val="506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44788"/>
            <a:ext cx="12832081" cy="74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3A3A3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Restaurants Are Flying Blind on Revenue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539728"/>
            <a:ext cx="16303523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Without real-time intelligence, restaurant owners make critical pricing and menu decisions based on gut feel rather than data. This creates missed revenue opportunities every single day.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4693596"/>
            <a:ext cx="5278641" cy="3243853"/>
            <a:chOff x="0" y="0"/>
            <a:chExt cx="7038188" cy="43251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7025386" cy="4312412"/>
            </a:xfrm>
            <a:custGeom>
              <a:avLst/>
              <a:gdLst/>
              <a:ahLst/>
              <a:cxnLst/>
              <a:rect r="r" b="b" t="t" l="l"/>
              <a:pathLst>
                <a:path h="4312412" w="7025386">
                  <a:moveTo>
                    <a:pt x="0" y="138938"/>
                  </a:moveTo>
                  <a:cubicBezTo>
                    <a:pt x="0" y="62230"/>
                    <a:pt x="62230" y="0"/>
                    <a:pt x="139065" y="0"/>
                  </a:cubicBezTo>
                  <a:lnTo>
                    <a:pt x="6886321" y="0"/>
                  </a:lnTo>
                  <a:cubicBezTo>
                    <a:pt x="6963156" y="0"/>
                    <a:pt x="7025386" y="62230"/>
                    <a:pt x="7025386" y="138938"/>
                  </a:cubicBezTo>
                  <a:lnTo>
                    <a:pt x="7025386" y="4173474"/>
                  </a:lnTo>
                  <a:cubicBezTo>
                    <a:pt x="7025386" y="4250182"/>
                    <a:pt x="6963156" y="4312412"/>
                    <a:pt x="6886321" y="4312412"/>
                  </a:cubicBezTo>
                  <a:lnTo>
                    <a:pt x="139065" y="4312412"/>
                  </a:lnTo>
                  <a:cubicBezTo>
                    <a:pt x="62230" y="4312412"/>
                    <a:pt x="0" y="4250182"/>
                    <a:pt x="0" y="4173474"/>
                  </a:cubicBezTo>
                  <a:close/>
                </a:path>
              </a:pathLst>
            </a:custGeom>
            <a:solidFill>
              <a:srgbClr val="F2EDE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38086" cy="4325112"/>
            </a:xfrm>
            <a:custGeom>
              <a:avLst/>
              <a:gdLst/>
              <a:ahLst/>
              <a:cxnLst/>
              <a:rect r="r" b="b" t="t" l="l"/>
              <a:pathLst>
                <a:path h="4325112" w="7038086">
                  <a:moveTo>
                    <a:pt x="0" y="145288"/>
                  </a:moveTo>
                  <a:cubicBezTo>
                    <a:pt x="0" y="65024"/>
                    <a:pt x="65151" y="0"/>
                    <a:pt x="145415" y="0"/>
                  </a:cubicBezTo>
                  <a:lnTo>
                    <a:pt x="6892671" y="0"/>
                  </a:lnTo>
                  <a:lnTo>
                    <a:pt x="6892671" y="6350"/>
                  </a:lnTo>
                  <a:lnTo>
                    <a:pt x="6892671" y="0"/>
                  </a:lnTo>
                  <a:cubicBezTo>
                    <a:pt x="6972935" y="0"/>
                    <a:pt x="7038086" y="65024"/>
                    <a:pt x="7038086" y="145288"/>
                  </a:cubicBezTo>
                  <a:lnTo>
                    <a:pt x="7031736" y="145288"/>
                  </a:lnTo>
                  <a:lnTo>
                    <a:pt x="7038086" y="145288"/>
                  </a:lnTo>
                  <a:lnTo>
                    <a:pt x="7038086" y="4179824"/>
                  </a:lnTo>
                  <a:lnTo>
                    <a:pt x="7031736" y="4179824"/>
                  </a:lnTo>
                  <a:lnTo>
                    <a:pt x="7038086" y="4179824"/>
                  </a:lnTo>
                  <a:cubicBezTo>
                    <a:pt x="7038086" y="4260088"/>
                    <a:pt x="6972935" y="4325112"/>
                    <a:pt x="6892671" y="4325112"/>
                  </a:cubicBezTo>
                  <a:lnTo>
                    <a:pt x="6892671" y="4318762"/>
                  </a:lnTo>
                  <a:lnTo>
                    <a:pt x="6892671" y="4325112"/>
                  </a:lnTo>
                  <a:lnTo>
                    <a:pt x="145415" y="4325112"/>
                  </a:lnTo>
                  <a:lnTo>
                    <a:pt x="145415" y="4318762"/>
                  </a:lnTo>
                  <a:lnTo>
                    <a:pt x="145415" y="4325112"/>
                  </a:lnTo>
                  <a:cubicBezTo>
                    <a:pt x="65151" y="4325112"/>
                    <a:pt x="0" y="4260088"/>
                    <a:pt x="0" y="4179824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4179824"/>
                  </a:lnTo>
                  <a:lnTo>
                    <a:pt x="6350" y="4179824"/>
                  </a:lnTo>
                  <a:lnTo>
                    <a:pt x="12700" y="4179824"/>
                  </a:lnTo>
                  <a:cubicBezTo>
                    <a:pt x="12700" y="4253103"/>
                    <a:pt x="72136" y="4312412"/>
                    <a:pt x="145415" y="4312412"/>
                  </a:cubicBezTo>
                  <a:lnTo>
                    <a:pt x="6892671" y="4312412"/>
                  </a:lnTo>
                  <a:cubicBezTo>
                    <a:pt x="6965950" y="4312412"/>
                    <a:pt x="7025386" y="4253103"/>
                    <a:pt x="7025386" y="4179824"/>
                  </a:cubicBezTo>
                  <a:lnTo>
                    <a:pt x="7025386" y="145288"/>
                  </a:lnTo>
                  <a:cubicBezTo>
                    <a:pt x="7025513" y="72009"/>
                    <a:pt x="6966077" y="12700"/>
                    <a:pt x="6892671" y="12700"/>
                  </a:cubicBezTo>
                  <a:lnTo>
                    <a:pt x="145415" y="12700"/>
                  </a:lnTo>
                  <a:lnTo>
                    <a:pt x="145415" y="6350"/>
                  </a:lnTo>
                  <a:lnTo>
                    <a:pt x="145415" y="12700"/>
                  </a:lnTo>
                  <a:cubicBezTo>
                    <a:pt x="72136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49709" y="4955829"/>
            <a:ext cx="744141" cy="744141"/>
            <a:chOff x="0" y="0"/>
            <a:chExt cx="992188" cy="9921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1454353" y="5160321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22" r="0" b="-972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49709" y="5957440"/>
            <a:ext cx="3845423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Menu Underperformance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9709" y="6398714"/>
            <a:ext cx="4754166" cy="127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Owners don't know which items generate the most margin per minute of kitchen time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04537" y="4693596"/>
            <a:ext cx="5278784" cy="3243853"/>
            <a:chOff x="0" y="0"/>
            <a:chExt cx="7038378" cy="43251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7025640" cy="4312412"/>
            </a:xfrm>
            <a:custGeom>
              <a:avLst/>
              <a:gdLst/>
              <a:ahLst/>
              <a:cxnLst/>
              <a:rect r="r" b="b" t="t" l="l"/>
              <a:pathLst>
                <a:path h="4312412" w="7025640">
                  <a:moveTo>
                    <a:pt x="0" y="138938"/>
                  </a:moveTo>
                  <a:cubicBezTo>
                    <a:pt x="0" y="62230"/>
                    <a:pt x="62230" y="0"/>
                    <a:pt x="139065" y="0"/>
                  </a:cubicBezTo>
                  <a:lnTo>
                    <a:pt x="6886575" y="0"/>
                  </a:lnTo>
                  <a:cubicBezTo>
                    <a:pt x="6963410" y="0"/>
                    <a:pt x="7025640" y="62230"/>
                    <a:pt x="7025640" y="138938"/>
                  </a:cubicBezTo>
                  <a:lnTo>
                    <a:pt x="7025640" y="4173474"/>
                  </a:lnTo>
                  <a:cubicBezTo>
                    <a:pt x="7025640" y="4250182"/>
                    <a:pt x="6963410" y="4312412"/>
                    <a:pt x="6886575" y="4312412"/>
                  </a:cubicBezTo>
                  <a:lnTo>
                    <a:pt x="139065" y="4312412"/>
                  </a:lnTo>
                  <a:cubicBezTo>
                    <a:pt x="62230" y="4312412"/>
                    <a:pt x="0" y="4250182"/>
                    <a:pt x="0" y="4173474"/>
                  </a:cubicBezTo>
                  <a:close/>
                </a:path>
              </a:pathLst>
            </a:custGeom>
            <a:solidFill>
              <a:srgbClr val="F2EDE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38340" cy="4325112"/>
            </a:xfrm>
            <a:custGeom>
              <a:avLst/>
              <a:gdLst/>
              <a:ahLst/>
              <a:cxnLst/>
              <a:rect r="r" b="b" t="t" l="l"/>
              <a:pathLst>
                <a:path h="4325112" w="7038340">
                  <a:moveTo>
                    <a:pt x="0" y="145288"/>
                  </a:moveTo>
                  <a:cubicBezTo>
                    <a:pt x="0" y="65024"/>
                    <a:pt x="65151" y="0"/>
                    <a:pt x="145415" y="0"/>
                  </a:cubicBezTo>
                  <a:lnTo>
                    <a:pt x="6892925" y="0"/>
                  </a:lnTo>
                  <a:lnTo>
                    <a:pt x="6892925" y="6350"/>
                  </a:lnTo>
                  <a:lnTo>
                    <a:pt x="6892925" y="0"/>
                  </a:lnTo>
                  <a:cubicBezTo>
                    <a:pt x="6973189" y="0"/>
                    <a:pt x="7038340" y="65024"/>
                    <a:pt x="7038340" y="145288"/>
                  </a:cubicBezTo>
                  <a:lnTo>
                    <a:pt x="7031990" y="145288"/>
                  </a:lnTo>
                  <a:lnTo>
                    <a:pt x="7038340" y="145288"/>
                  </a:lnTo>
                  <a:lnTo>
                    <a:pt x="7038340" y="4179824"/>
                  </a:lnTo>
                  <a:lnTo>
                    <a:pt x="7031990" y="4179824"/>
                  </a:lnTo>
                  <a:lnTo>
                    <a:pt x="7038340" y="4179824"/>
                  </a:lnTo>
                  <a:cubicBezTo>
                    <a:pt x="7038340" y="4260088"/>
                    <a:pt x="6973189" y="4325112"/>
                    <a:pt x="6892925" y="4325112"/>
                  </a:cubicBezTo>
                  <a:lnTo>
                    <a:pt x="6892925" y="4318762"/>
                  </a:lnTo>
                  <a:lnTo>
                    <a:pt x="6892925" y="4325112"/>
                  </a:lnTo>
                  <a:lnTo>
                    <a:pt x="145415" y="4325112"/>
                  </a:lnTo>
                  <a:lnTo>
                    <a:pt x="145415" y="4318762"/>
                  </a:lnTo>
                  <a:lnTo>
                    <a:pt x="145415" y="4325112"/>
                  </a:lnTo>
                  <a:cubicBezTo>
                    <a:pt x="65151" y="4325112"/>
                    <a:pt x="0" y="4260088"/>
                    <a:pt x="0" y="4179824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4179824"/>
                  </a:lnTo>
                  <a:lnTo>
                    <a:pt x="6350" y="4179824"/>
                  </a:lnTo>
                  <a:lnTo>
                    <a:pt x="12700" y="4179824"/>
                  </a:lnTo>
                  <a:cubicBezTo>
                    <a:pt x="12700" y="4253103"/>
                    <a:pt x="72136" y="4312412"/>
                    <a:pt x="145415" y="4312412"/>
                  </a:cubicBezTo>
                  <a:lnTo>
                    <a:pt x="6892925" y="4312412"/>
                  </a:lnTo>
                  <a:cubicBezTo>
                    <a:pt x="6966203" y="4312412"/>
                    <a:pt x="7025640" y="4253103"/>
                    <a:pt x="7025640" y="4179824"/>
                  </a:cubicBezTo>
                  <a:lnTo>
                    <a:pt x="7025640" y="145288"/>
                  </a:lnTo>
                  <a:cubicBezTo>
                    <a:pt x="7025640" y="72009"/>
                    <a:pt x="6966204" y="12700"/>
                    <a:pt x="6892925" y="12700"/>
                  </a:cubicBezTo>
                  <a:lnTo>
                    <a:pt x="145415" y="12700"/>
                  </a:lnTo>
                  <a:lnTo>
                    <a:pt x="145415" y="6350"/>
                  </a:lnTo>
                  <a:lnTo>
                    <a:pt x="145415" y="12700"/>
                  </a:lnTo>
                  <a:cubicBezTo>
                    <a:pt x="72136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766770" y="4955829"/>
            <a:ext cx="744141" cy="744141"/>
            <a:chOff x="0" y="0"/>
            <a:chExt cx="992188" cy="9921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6971405" y="5160321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766770" y="5957440"/>
            <a:ext cx="3860302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No Real-Time Intelligence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66770" y="6398714"/>
            <a:ext cx="4754318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Pricing and promotion decisions are made on gut feel, not data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21741" y="4693596"/>
            <a:ext cx="5278641" cy="3243853"/>
            <a:chOff x="0" y="0"/>
            <a:chExt cx="7038188" cy="43251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7025386" cy="4312412"/>
            </a:xfrm>
            <a:custGeom>
              <a:avLst/>
              <a:gdLst/>
              <a:ahLst/>
              <a:cxnLst/>
              <a:rect r="r" b="b" t="t" l="l"/>
              <a:pathLst>
                <a:path h="4312412" w="7025386">
                  <a:moveTo>
                    <a:pt x="0" y="138938"/>
                  </a:moveTo>
                  <a:cubicBezTo>
                    <a:pt x="0" y="62230"/>
                    <a:pt x="62230" y="0"/>
                    <a:pt x="139065" y="0"/>
                  </a:cubicBezTo>
                  <a:lnTo>
                    <a:pt x="6886321" y="0"/>
                  </a:lnTo>
                  <a:cubicBezTo>
                    <a:pt x="6963156" y="0"/>
                    <a:pt x="7025386" y="62230"/>
                    <a:pt x="7025386" y="138938"/>
                  </a:cubicBezTo>
                  <a:lnTo>
                    <a:pt x="7025386" y="4173474"/>
                  </a:lnTo>
                  <a:cubicBezTo>
                    <a:pt x="7025386" y="4250182"/>
                    <a:pt x="6963156" y="4312412"/>
                    <a:pt x="6886321" y="4312412"/>
                  </a:cubicBezTo>
                  <a:lnTo>
                    <a:pt x="139065" y="4312412"/>
                  </a:lnTo>
                  <a:cubicBezTo>
                    <a:pt x="62230" y="4312412"/>
                    <a:pt x="0" y="4250182"/>
                    <a:pt x="0" y="4173474"/>
                  </a:cubicBezTo>
                  <a:close/>
                </a:path>
              </a:pathLst>
            </a:custGeom>
            <a:solidFill>
              <a:srgbClr val="F2EDE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38086" cy="4325112"/>
            </a:xfrm>
            <a:custGeom>
              <a:avLst/>
              <a:gdLst/>
              <a:ahLst/>
              <a:cxnLst/>
              <a:rect r="r" b="b" t="t" l="l"/>
              <a:pathLst>
                <a:path h="4325112" w="7038086">
                  <a:moveTo>
                    <a:pt x="0" y="145288"/>
                  </a:moveTo>
                  <a:cubicBezTo>
                    <a:pt x="0" y="65024"/>
                    <a:pt x="65151" y="0"/>
                    <a:pt x="145415" y="0"/>
                  </a:cubicBezTo>
                  <a:lnTo>
                    <a:pt x="6892671" y="0"/>
                  </a:lnTo>
                  <a:lnTo>
                    <a:pt x="6892671" y="6350"/>
                  </a:lnTo>
                  <a:lnTo>
                    <a:pt x="6892671" y="0"/>
                  </a:lnTo>
                  <a:cubicBezTo>
                    <a:pt x="6972935" y="0"/>
                    <a:pt x="7038086" y="65024"/>
                    <a:pt x="7038086" y="145288"/>
                  </a:cubicBezTo>
                  <a:lnTo>
                    <a:pt x="7031736" y="145288"/>
                  </a:lnTo>
                  <a:lnTo>
                    <a:pt x="7038086" y="145288"/>
                  </a:lnTo>
                  <a:lnTo>
                    <a:pt x="7038086" y="4179824"/>
                  </a:lnTo>
                  <a:lnTo>
                    <a:pt x="7031736" y="4179824"/>
                  </a:lnTo>
                  <a:lnTo>
                    <a:pt x="7038086" y="4179824"/>
                  </a:lnTo>
                  <a:cubicBezTo>
                    <a:pt x="7038086" y="4260088"/>
                    <a:pt x="6972935" y="4325112"/>
                    <a:pt x="6892671" y="4325112"/>
                  </a:cubicBezTo>
                  <a:lnTo>
                    <a:pt x="6892671" y="4318762"/>
                  </a:lnTo>
                  <a:lnTo>
                    <a:pt x="6892671" y="4325112"/>
                  </a:lnTo>
                  <a:lnTo>
                    <a:pt x="145415" y="4325112"/>
                  </a:lnTo>
                  <a:lnTo>
                    <a:pt x="145415" y="4318762"/>
                  </a:lnTo>
                  <a:lnTo>
                    <a:pt x="145415" y="4325112"/>
                  </a:lnTo>
                  <a:cubicBezTo>
                    <a:pt x="65151" y="4325112"/>
                    <a:pt x="0" y="4260088"/>
                    <a:pt x="0" y="4179824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4179824"/>
                  </a:lnTo>
                  <a:lnTo>
                    <a:pt x="6350" y="4179824"/>
                  </a:lnTo>
                  <a:lnTo>
                    <a:pt x="12700" y="4179824"/>
                  </a:lnTo>
                  <a:cubicBezTo>
                    <a:pt x="12700" y="4253103"/>
                    <a:pt x="72136" y="4312412"/>
                    <a:pt x="145415" y="4312412"/>
                  </a:cubicBezTo>
                  <a:lnTo>
                    <a:pt x="6892671" y="4312412"/>
                  </a:lnTo>
                  <a:cubicBezTo>
                    <a:pt x="6965950" y="4312412"/>
                    <a:pt x="7025386" y="4253103"/>
                    <a:pt x="7025386" y="4179824"/>
                  </a:cubicBezTo>
                  <a:lnTo>
                    <a:pt x="7025386" y="145288"/>
                  </a:lnTo>
                  <a:cubicBezTo>
                    <a:pt x="7025513" y="72009"/>
                    <a:pt x="6966077" y="12700"/>
                    <a:pt x="6892671" y="12700"/>
                  </a:cubicBezTo>
                  <a:lnTo>
                    <a:pt x="145415" y="12700"/>
                  </a:lnTo>
                  <a:lnTo>
                    <a:pt x="145415" y="6350"/>
                  </a:lnTo>
                  <a:lnTo>
                    <a:pt x="145415" y="12700"/>
                  </a:lnTo>
                  <a:cubicBezTo>
                    <a:pt x="72136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283973" y="4955829"/>
            <a:ext cx="744141" cy="744141"/>
            <a:chOff x="0" y="0"/>
            <a:chExt cx="992188" cy="9921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2488618" y="5160321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167" t="0" r="-4167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283973" y="5957440"/>
            <a:ext cx="3898106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Missed Revenue Moments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83973" y="6398714"/>
            <a:ext cx="4754166" cy="127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Peak hours, trending items, and high-margin underordered items go unnoticed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52713"/>
            <a:ext cx="16582073" cy="74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3A3A3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पेटBOT — A Three-Module Revenue Intelligence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847652"/>
            <a:ext cx="16303523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Three integrated modules working together to transform raw orders into actionable revenue intelligence.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7951" y="4595070"/>
            <a:ext cx="5297691" cy="3043828"/>
            <a:chOff x="0" y="0"/>
            <a:chExt cx="7063588" cy="40584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7025386" cy="4020312"/>
            </a:xfrm>
            <a:custGeom>
              <a:avLst/>
              <a:gdLst/>
              <a:ahLst/>
              <a:cxnLst/>
              <a:rect r="r" b="b" t="t" l="l"/>
              <a:pathLst>
                <a:path h="4020312" w="7025386">
                  <a:moveTo>
                    <a:pt x="0" y="138938"/>
                  </a:moveTo>
                  <a:cubicBezTo>
                    <a:pt x="0" y="62230"/>
                    <a:pt x="62484" y="0"/>
                    <a:pt x="139446" y="0"/>
                  </a:cubicBezTo>
                  <a:lnTo>
                    <a:pt x="6885940" y="0"/>
                  </a:lnTo>
                  <a:cubicBezTo>
                    <a:pt x="6963029" y="0"/>
                    <a:pt x="7025386" y="62230"/>
                    <a:pt x="7025386" y="138938"/>
                  </a:cubicBezTo>
                  <a:lnTo>
                    <a:pt x="7025386" y="3881374"/>
                  </a:lnTo>
                  <a:cubicBezTo>
                    <a:pt x="7025386" y="3958082"/>
                    <a:pt x="6962902" y="4020312"/>
                    <a:pt x="6885940" y="4020312"/>
                  </a:cubicBezTo>
                  <a:lnTo>
                    <a:pt x="139446" y="4020312"/>
                  </a:lnTo>
                  <a:cubicBezTo>
                    <a:pt x="62357" y="4020312"/>
                    <a:pt x="0" y="3958082"/>
                    <a:pt x="0" y="3881374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3486" cy="4058412"/>
            </a:xfrm>
            <a:custGeom>
              <a:avLst/>
              <a:gdLst/>
              <a:ahLst/>
              <a:cxnLst/>
              <a:rect r="r" b="b" t="t" l="l"/>
              <a:pathLst>
                <a:path h="4058412" w="7063486">
                  <a:moveTo>
                    <a:pt x="0" y="157988"/>
                  </a:moveTo>
                  <a:cubicBezTo>
                    <a:pt x="0" y="70612"/>
                    <a:pt x="71120" y="0"/>
                    <a:pt x="158496" y="0"/>
                  </a:cubicBezTo>
                  <a:lnTo>
                    <a:pt x="6904990" y="0"/>
                  </a:lnTo>
                  <a:lnTo>
                    <a:pt x="6904990" y="19050"/>
                  </a:lnTo>
                  <a:lnTo>
                    <a:pt x="6904990" y="0"/>
                  </a:lnTo>
                  <a:cubicBezTo>
                    <a:pt x="6992493" y="0"/>
                    <a:pt x="7063486" y="70612"/>
                    <a:pt x="7063486" y="157988"/>
                  </a:cubicBezTo>
                  <a:lnTo>
                    <a:pt x="7044436" y="157988"/>
                  </a:lnTo>
                  <a:lnTo>
                    <a:pt x="7063486" y="157988"/>
                  </a:lnTo>
                  <a:lnTo>
                    <a:pt x="7063486" y="3900424"/>
                  </a:lnTo>
                  <a:lnTo>
                    <a:pt x="7044436" y="3900424"/>
                  </a:lnTo>
                  <a:lnTo>
                    <a:pt x="7063486" y="3900424"/>
                  </a:lnTo>
                  <a:cubicBezTo>
                    <a:pt x="7063486" y="3987800"/>
                    <a:pt x="6992366" y="4058412"/>
                    <a:pt x="6904990" y="4058412"/>
                  </a:cubicBezTo>
                  <a:lnTo>
                    <a:pt x="6904990" y="4039362"/>
                  </a:lnTo>
                  <a:lnTo>
                    <a:pt x="6904990" y="4058412"/>
                  </a:lnTo>
                  <a:lnTo>
                    <a:pt x="158496" y="4058412"/>
                  </a:lnTo>
                  <a:lnTo>
                    <a:pt x="158496" y="4039362"/>
                  </a:lnTo>
                  <a:lnTo>
                    <a:pt x="158496" y="4058412"/>
                  </a:lnTo>
                  <a:cubicBezTo>
                    <a:pt x="71120" y="4058412"/>
                    <a:pt x="0" y="3987800"/>
                    <a:pt x="0" y="3900424"/>
                  </a:cubicBezTo>
                  <a:lnTo>
                    <a:pt x="0" y="157988"/>
                  </a:lnTo>
                  <a:lnTo>
                    <a:pt x="19050" y="157988"/>
                  </a:lnTo>
                  <a:lnTo>
                    <a:pt x="0" y="157988"/>
                  </a:lnTo>
                  <a:moveTo>
                    <a:pt x="38100" y="157988"/>
                  </a:moveTo>
                  <a:lnTo>
                    <a:pt x="38100" y="3900424"/>
                  </a:lnTo>
                  <a:lnTo>
                    <a:pt x="19050" y="3900424"/>
                  </a:lnTo>
                  <a:lnTo>
                    <a:pt x="38100" y="3900424"/>
                  </a:lnTo>
                  <a:cubicBezTo>
                    <a:pt x="38100" y="3966591"/>
                    <a:pt x="91948" y="4020312"/>
                    <a:pt x="158496" y="4020312"/>
                  </a:cubicBezTo>
                  <a:lnTo>
                    <a:pt x="6904990" y="4020312"/>
                  </a:lnTo>
                  <a:cubicBezTo>
                    <a:pt x="6971538" y="4020312"/>
                    <a:pt x="7025386" y="3966591"/>
                    <a:pt x="7025386" y="3900424"/>
                  </a:cubicBezTo>
                  <a:lnTo>
                    <a:pt x="7025386" y="157988"/>
                  </a:lnTo>
                  <a:cubicBezTo>
                    <a:pt x="7025386" y="91821"/>
                    <a:pt x="6971538" y="38100"/>
                    <a:pt x="6904990" y="38100"/>
                  </a:cubicBezTo>
                  <a:lnTo>
                    <a:pt x="158496" y="38100"/>
                  </a:lnTo>
                  <a:lnTo>
                    <a:pt x="158496" y="19050"/>
                  </a:lnTo>
                  <a:lnTo>
                    <a:pt x="158496" y="38100"/>
                  </a:lnTo>
                  <a:cubicBezTo>
                    <a:pt x="91948" y="38100"/>
                    <a:pt x="38100" y="91821"/>
                    <a:pt x="38100" y="157988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0813" y="4637932"/>
            <a:ext cx="5211966" cy="744141"/>
            <a:chOff x="0" y="0"/>
            <a:chExt cx="6949288" cy="9921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49313" cy="992251"/>
            </a:xfrm>
            <a:custGeom>
              <a:avLst/>
              <a:gdLst/>
              <a:ahLst/>
              <a:cxnLst/>
              <a:rect r="r" b="b" t="t" l="l"/>
              <a:pathLst>
                <a:path h="992251" w="6949313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6856095" y="0"/>
                  </a:lnTo>
                  <a:cubicBezTo>
                    <a:pt x="6907530" y="0"/>
                    <a:pt x="6949313" y="41783"/>
                    <a:pt x="6949313" y="93218"/>
                  </a:cubicBezTo>
                  <a:lnTo>
                    <a:pt x="6949313" y="899033"/>
                  </a:lnTo>
                  <a:cubicBezTo>
                    <a:pt x="6949313" y="950468"/>
                    <a:pt x="6907530" y="992251"/>
                    <a:pt x="6856095" y="992251"/>
                  </a:cubicBezTo>
                  <a:lnTo>
                    <a:pt x="93218" y="992251"/>
                  </a:lnTo>
                  <a:cubicBezTo>
                    <a:pt x="41783" y="992251"/>
                    <a:pt x="0" y="950468"/>
                    <a:pt x="0" y="899033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440754" y="4829766"/>
            <a:ext cx="372066" cy="40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87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759" y="5639543"/>
            <a:ext cx="4716066" cy="76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Revenue Intelligence 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8759" y="6468513"/>
            <a:ext cx="4716066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Live analytics with KPI cards, 8 charts, and AI-generated insights per chart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95012" y="4595070"/>
            <a:ext cx="5297834" cy="3043828"/>
            <a:chOff x="0" y="0"/>
            <a:chExt cx="7063778" cy="40584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9050"/>
              <a:ext cx="7025639" cy="4020312"/>
            </a:xfrm>
            <a:custGeom>
              <a:avLst/>
              <a:gdLst/>
              <a:ahLst/>
              <a:cxnLst/>
              <a:rect r="r" b="b" t="t" l="l"/>
              <a:pathLst>
                <a:path h="4020312" w="7025639">
                  <a:moveTo>
                    <a:pt x="0" y="138938"/>
                  </a:moveTo>
                  <a:cubicBezTo>
                    <a:pt x="0" y="62230"/>
                    <a:pt x="62484" y="0"/>
                    <a:pt x="139446" y="0"/>
                  </a:cubicBezTo>
                  <a:lnTo>
                    <a:pt x="6886194" y="0"/>
                  </a:lnTo>
                  <a:cubicBezTo>
                    <a:pt x="6963283" y="0"/>
                    <a:pt x="7025639" y="62230"/>
                    <a:pt x="7025639" y="138938"/>
                  </a:cubicBezTo>
                  <a:lnTo>
                    <a:pt x="7025639" y="3881374"/>
                  </a:lnTo>
                  <a:cubicBezTo>
                    <a:pt x="7025639" y="3958082"/>
                    <a:pt x="6963156" y="4020312"/>
                    <a:pt x="6886194" y="4020312"/>
                  </a:cubicBezTo>
                  <a:lnTo>
                    <a:pt x="139446" y="4020312"/>
                  </a:lnTo>
                  <a:cubicBezTo>
                    <a:pt x="62357" y="4020312"/>
                    <a:pt x="0" y="3958082"/>
                    <a:pt x="0" y="3881374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63739" cy="4058412"/>
            </a:xfrm>
            <a:custGeom>
              <a:avLst/>
              <a:gdLst/>
              <a:ahLst/>
              <a:cxnLst/>
              <a:rect r="r" b="b" t="t" l="l"/>
              <a:pathLst>
                <a:path h="4058412" w="7063739">
                  <a:moveTo>
                    <a:pt x="0" y="157988"/>
                  </a:moveTo>
                  <a:cubicBezTo>
                    <a:pt x="0" y="70612"/>
                    <a:pt x="71120" y="0"/>
                    <a:pt x="158496" y="0"/>
                  </a:cubicBezTo>
                  <a:lnTo>
                    <a:pt x="6905244" y="0"/>
                  </a:lnTo>
                  <a:lnTo>
                    <a:pt x="6905244" y="19050"/>
                  </a:lnTo>
                  <a:lnTo>
                    <a:pt x="6905244" y="0"/>
                  </a:lnTo>
                  <a:cubicBezTo>
                    <a:pt x="6992747" y="0"/>
                    <a:pt x="7063739" y="70612"/>
                    <a:pt x="7063739" y="157988"/>
                  </a:cubicBezTo>
                  <a:lnTo>
                    <a:pt x="7044689" y="157988"/>
                  </a:lnTo>
                  <a:lnTo>
                    <a:pt x="7063739" y="157988"/>
                  </a:lnTo>
                  <a:lnTo>
                    <a:pt x="7063739" y="3900424"/>
                  </a:lnTo>
                  <a:lnTo>
                    <a:pt x="7044689" y="3900424"/>
                  </a:lnTo>
                  <a:lnTo>
                    <a:pt x="7063739" y="3900424"/>
                  </a:lnTo>
                  <a:cubicBezTo>
                    <a:pt x="7063739" y="3987800"/>
                    <a:pt x="6992620" y="4058412"/>
                    <a:pt x="6905244" y="4058412"/>
                  </a:cubicBezTo>
                  <a:lnTo>
                    <a:pt x="6905244" y="4039362"/>
                  </a:lnTo>
                  <a:lnTo>
                    <a:pt x="6905244" y="4058412"/>
                  </a:lnTo>
                  <a:lnTo>
                    <a:pt x="158496" y="4058412"/>
                  </a:lnTo>
                  <a:lnTo>
                    <a:pt x="158496" y="4039362"/>
                  </a:lnTo>
                  <a:lnTo>
                    <a:pt x="158496" y="4058412"/>
                  </a:lnTo>
                  <a:cubicBezTo>
                    <a:pt x="71120" y="4058412"/>
                    <a:pt x="0" y="3987800"/>
                    <a:pt x="0" y="3900424"/>
                  </a:cubicBezTo>
                  <a:lnTo>
                    <a:pt x="0" y="157988"/>
                  </a:lnTo>
                  <a:lnTo>
                    <a:pt x="19050" y="157988"/>
                  </a:lnTo>
                  <a:lnTo>
                    <a:pt x="0" y="157988"/>
                  </a:lnTo>
                  <a:moveTo>
                    <a:pt x="38100" y="157988"/>
                  </a:moveTo>
                  <a:lnTo>
                    <a:pt x="38100" y="3900424"/>
                  </a:lnTo>
                  <a:lnTo>
                    <a:pt x="19050" y="3900424"/>
                  </a:lnTo>
                  <a:lnTo>
                    <a:pt x="38100" y="3900424"/>
                  </a:lnTo>
                  <a:cubicBezTo>
                    <a:pt x="38100" y="3966591"/>
                    <a:pt x="91948" y="4020312"/>
                    <a:pt x="158496" y="4020312"/>
                  </a:cubicBezTo>
                  <a:lnTo>
                    <a:pt x="6905244" y="4020312"/>
                  </a:lnTo>
                  <a:cubicBezTo>
                    <a:pt x="6971792" y="4020312"/>
                    <a:pt x="7025639" y="3966591"/>
                    <a:pt x="7025639" y="3900424"/>
                  </a:cubicBezTo>
                  <a:lnTo>
                    <a:pt x="7025639" y="157988"/>
                  </a:lnTo>
                  <a:cubicBezTo>
                    <a:pt x="7025639" y="91821"/>
                    <a:pt x="6971792" y="38100"/>
                    <a:pt x="6905244" y="38100"/>
                  </a:cubicBezTo>
                  <a:lnTo>
                    <a:pt x="158496" y="38100"/>
                  </a:lnTo>
                  <a:lnTo>
                    <a:pt x="158496" y="19050"/>
                  </a:lnTo>
                  <a:lnTo>
                    <a:pt x="158496" y="38100"/>
                  </a:lnTo>
                  <a:cubicBezTo>
                    <a:pt x="91948" y="38100"/>
                    <a:pt x="38100" y="91821"/>
                    <a:pt x="38100" y="157988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37874" y="4637932"/>
            <a:ext cx="5212109" cy="744141"/>
            <a:chOff x="0" y="0"/>
            <a:chExt cx="6949478" cy="9921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49440" cy="992251"/>
            </a:xfrm>
            <a:custGeom>
              <a:avLst/>
              <a:gdLst/>
              <a:ahLst/>
              <a:cxnLst/>
              <a:rect r="r" b="b" t="t" l="l"/>
              <a:pathLst>
                <a:path h="992251" w="694944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6856222" y="0"/>
                  </a:lnTo>
                  <a:cubicBezTo>
                    <a:pt x="6907657" y="0"/>
                    <a:pt x="6949440" y="41783"/>
                    <a:pt x="6949440" y="93218"/>
                  </a:cubicBezTo>
                  <a:lnTo>
                    <a:pt x="6949440" y="899033"/>
                  </a:lnTo>
                  <a:cubicBezTo>
                    <a:pt x="6949440" y="950468"/>
                    <a:pt x="6907657" y="992251"/>
                    <a:pt x="6856222" y="992251"/>
                  </a:cubicBezTo>
                  <a:lnTo>
                    <a:pt x="93218" y="992251"/>
                  </a:lnTo>
                  <a:cubicBezTo>
                    <a:pt x="41783" y="992251"/>
                    <a:pt x="0" y="950468"/>
                    <a:pt x="0" y="899033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957815" y="4829766"/>
            <a:ext cx="372066" cy="40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87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85820" y="5639543"/>
            <a:ext cx="3620986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AI Voice Ordering Agent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85820" y="6080817"/>
            <a:ext cx="4716218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Real-time voice calls with STT/TTS, multilingual support, and upsell logic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12216" y="4595070"/>
            <a:ext cx="5297691" cy="3043828"/>
            <a:chOff x="0" y="0"/>
            <a:chExt cx="7063588" cy="40584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19050"/>
              <a:ext cx="7025386" cy="4020312"/>
            </a:xfrm>
            <a:custGeom>
              <a:avLst/>
              <a:gdLst/>
              <a:ahLst/>
              <a:cxnLst/>
              <a:rect r="r" b="b" t="t" l="l"/>
              <a:pathLst>
                <a:path h="4020312" w="7025386">
                  <a:moveTo>
                    <a:pt x="0" y="138938"/>
                  </a:moveTo>
                  <a:cubicBezTo>
                    <a:pt x="0" y="62230"/>
                    <a:pt x="62484" y="0"/>
                    <a:pt x="139446" y="0"/>
                  </a:cubicBezTo>
                  <a:lnTo>
                    <a:pt x="6885940" y="0"/>
                  </a:lnTo>
                  <a:cubicBezTo>
                    <a:pt x="6963029" y="0"/>
                    <a:pt x="7025386" y="62230"/>
                    <a:pt x="7025386" y="138938"/>
                  </a:cubicBezTo>
                  <a:lnTo>
                    <a:pt x="7025386" y="3881374"/>
                  </a:lnTo>
                  <a:cubicBezTo>
                    <a:pt x="7025386" y="3958082"/>
                    <a:pt x="6962902" y="4020312"/>
                    <a:pt x="6885940" y="4020312"/>
                  </a:cubicBezTo>
                  <a:lnTo>
                    <a:pt x="139446" y="4020312"/>
                  </a:lnTo>
                  <a:cubicBezTo>
                    <a:pt x="62357" y="4020312"/>
                    <a:pt x="0" y="3958082"/>
                    <a:pt x="0" y="3881374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63486" cy="4058412"/>
            </a:xfrm>
            <a:custGeom>
              <a:avLst/>
              <a:gdLst/>
              <a:ahLst/>
              <a:cxnLst/>
              <a:rect r="r" b="b" t="t" l="l"/>
              <a:pathLst>
                <a:path h="4058412" w="7063486">
                  <a:moveTo>
                    <a:pt x="0" y="157988"/>
                  </a:moveTo>
                  <a:cubicBezTo>
                    <a:pt x="0" y="70612"/>
                    <a:pt x="71120" y="0"/>
                    <a:pt x="158496" y="0"/>
                  </a:cubicBezTo>
                  <a:lnTo>
                    <a:pt x="6904990" y="0"/>
                  </a:lnTo>
                  <a:lnTo>
                    <a:pt x="6904990" y="19050"/>
                  </a:lnTo>
                  <a:lnTo>
                    <a:pt x="6904990" y="0"/>
                  </a:lnTo>
                  <a:cubicBezTo>
                    <a:pt x="6992493" y="0"/>
                    <a:pt x="7063486" y="70612"/>
                    <a:pt x="7063486" y="157988"/>
                  </a:cubicBezTo>
                  <a:lnTo>
                    <a:pt x="7044436" y="157988"/>
                  </a:lnTo>
                  <a:lnTo>
                    <a:pt x="7063486" y="157988"/>
                  </a:lnTo>
                  <a:lnTo>
                    <a:pt x="7063486" y="3900424"/>
                  </a:lnTo>
                  <a:lnTo>
                    <a:pt x="7044436" y="3900424"/>
                  </a:lnTo>
                  <a:lnTo>
                    <a:pt x="7063486" y="3900424"/>
                  </a:lnTo>
                  <a:cubicBezTo>
                    <a:pt x="7063486" y="3987800"/>
                    <a:pt x="6992366" y="4058412"/>
                    <a:pt x="6904990" y="4058412"/>
                  </a:cubicBezTo>
                  <a:lnTo>
                    <a:pt x="6904990" y="4039362"/>
                  </a:lnTo>
                  <a:lnTo>
                    <a:pt x="6904990" y="4058412"/>
                  </a:lnTo>
                  <a:lnTo>
                    <a:pt x="158496" y="4058412"/>
                  </a:lnTo>
                  <a:lnTo>
                    <a:pt x="158496" y="4039362"/>
                  </a:lnTo>
                  <a:lnTo>
                    <a:pt x="158496" y="4058412"/>
                  </a:lnTo>
                  <a:cubicBezTo>
                    <a:pt x="71120" y="4058412"/>
                    <a:pt x="0" y="3987800"/>
                    <a:pt x="0" y="3900424"/>
                  </a:cubicBezTo>
                  <a:lnTo>
                    <a:pt x="0" y="157988"/>
                  </a:lnTo>
                  <a:lnTo>
                    <a:pt x="19050" y="157988"/>
                  </a:lnTo>
                  <a:lnTo>
                    <a:pt x="0" y="157988"/>
                  </a:lnTo>
                  <a:moveTo>
                    <a:pt x="38100" y="157988"/>
                  </a:moveTo>
                  <a:lnTo>
                    <a:pt x="38100" y="3900424"/>
                  </a:lnTo>
                  <a:lnTo>
                    <a:pt x="19050" y="3900424"/>
                  </a:lnTo>
                  <a:lnTo>
                    <a:pt x="38100" y="3900424"/>
                  </a:lnTo>
                  <a:cubicBezTo>
                    <a:pt x="38100" y="3966591"/>
                    <a:pt x="91948" y="4020312"/>
                    <a:pt x="158496" y="4020312"/>
                  </a:cubicBezTo>
                  <a:lnTo>
                    <a:pt x="6904990" y="4020312"/>
                  </a:lnTo>
                  <a:cubicBezTo>
                    <a:pt x="6971538" y="4020312"/>
                    <a:pt x="7025386" y="3966591"/>
                    <a:pt x="7025386" y="3900424"/>
                  </a:cubicBezTo>
                  <a:lnTo>
                    <a:pt x="7025386" y="157988"/>
                  </a:lnTo>
                  <a:cubicBezTo>
                    <a:pt x="7025386" y="91821"/>
                    <a:pt x="6971538" y="38100"/>
                    <a:pt x="6904990" y="38100"/>
                  </a:cubicBezTo>
                  <a:lnTo>
                    <a:pt x="158496" y="38100"/>
                  </a:lnTo>
                  <a:lnTo>
                    <a:pt x="158496" y="19050"/>
                  </a:lnTo>
                  <a:lnTo>
                    <a:pt x="158496" y="38100"/>
                  </a:lnTo>
                  <a:cubicBezTo>
                    <a:pt x="91948" y="38100"/>
                    <a:pt x="38100" y="91821"/>
                    <a:pt x="38100" y="157988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055078" y="4637932"/>
            <a:ext cx="5211966" cy="744141"/>
            <a:chOff x="0" y="0"/>
            <a:chExt cx="6949288" cy="9921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49313" cy="992251"/>
            </a:xfrm>
            <a:custGeom>
              <a:avLst/>
              <a:gdLst/>
              <a:ahLst/>
              <a:cxnLst/>
              <a:rect r="r" b="b" t="t" l="l"/>
              <a:pathLst>
                <a:path h="992251" w="6949313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6856095" y="0"/>
                  </a:lnTo>
                  <a:cubicBezTo>
                    <a:pt x="6907530" y="0"/>
                    <a:pt x="6949313" y="41783"/>
                    <a:pt x="6949313" y="93218"/>
                  </a:cubicBezTo>
                  <a:lnTo>
                    <a:pt x="6949313" y="899033"/>
                  </a:lnTo>
                  <a:cubicBezTo>
                    <a:pt x="6949313" y="950468"/>
                    <a:pt x="6907530" y="992251"/>
                    <a:pt x="6856095" y="992251"/>
                  </a:cubicBezTo>
                  <a:lnTo>
                    <a:pt x="93218" y="992251"/>
                  </a:lnTo>
                  <a:cubicBezTo>
                    <a:pt x="41783" y="992251"/>
                    <a:pt x="0" y="950468"/>
                    <a:pt x="0" y="899033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475028" y="4829766"/>
            <a:ext cx="372066" cy="40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874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03023" y="5639543"/>
            <a:ext cx="3702844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Revenue Copilot Chatbot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03023" y="6080817"/>
            <a:ext cx="4716066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Natural language Q&amp;A grounded in the restaurant's real order and menu 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79922"/>
            <a:ext cx="8183761" cy="74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3A3A3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Full-Stack AI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474862"/>
            <a:ext cx="16303523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A layered architecture combining data infrastructure, AI intelligence, and intuitive interfaces to deliver real-time revenue insights.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59541" y="3851967"/>
            <a:ext cx="7665091" cy="257470"/>
            <a:chOff x="0" y="0"/>
            <a:chExt cx="10220122" cy="3432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10207498" cy="330581"/>
            </a:xfrm>
            <a:custGeom>
              <a:avLst/>
              <a:gdLst/>
              <a:ahLst/>
              <a:cxnLst/>
              <a:rect r="r" b="b" t="t" l="l"/>
              <a:pathLst>
                <a:path h="330581" w="10207498">
                  <a:moveTo>
                    <a:pt x="0" y="138938"/>
                  </a:moveTo>
                  <a:cubicBezTo>
                    <a:pt x="0" y="62230"/>
                    <a:pt x="64516" y="0"/>
                    <a:pt x="144145" y="0"/>
                  </a:cubicBezTo>
                  <a:lnTo>
                    <a:pt x="10063353" y="0"/>
                  </a:lnTo>
                  <a:cubicBezTo>
                    <a:pt x="10142982" y="0"/>
                    <a:pt x="10207498" y="62230"/>
                    <a:pt x="10207498" y="138938"/>
                  </a:cubicBezTo>
                  <a:lnTo>
                    <a:pt x="10207498" y="191643"/>
                  </a:lnTo>
                  <a:cubicBezTo>
                    <a:pt x="10207498" y="268351"/>
                    <a:pt x="10142982" y="330581"/>
                    <a:pt x="10063353" y="330581"/>
                  </a:cubicBezTo>
                  <a:lnTo>
                    <a:pt x="144145" y="330581"/>
                  </a:lnTo>
                  <a:cubicBezTo>
                    <a:pt x="64516" y="330581"/>
                    <a:pt x="0" y="268351"/>
                    <a:pt x="0" y="191643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20198" cy="343281"/>
            </a:xfrm>
            <a:custGeom>
              <a:avLst/>
              <a:gdLst/>
              <a:ahLst/>
              <a:cxnLst/>
              <a:rect r="r" b="b" t="t" l="l"/>
              <a:pathLst>
                <a:path h="343281" w="10220198">
                  <a:moveTo>
                    <a:pt x="0" y="145288"/>
                  </a:moveTo>
                  <a:cubicBezTo>
                    <a:pt x="0" y="64770"/>
                    <a:pt x="67564" y="0"/>
                    <a:pt x="150495" y="0"/>
                  </a:cubicBezTo>
                  <a:lnTo>
                    <a:pt x="10069703" y="0"/>
                  </a:lnTo>
                  <a:lnTo>
                    <a:pt x="10069703" y="6350"/>
                  </a:lnTo>
                  <a:lnTo>
                    <a:pt x="10069703" y="0"/>
                  </a:lnTo>
                  <a:cubicBezTo>
                    <a:pt x="10152507" y="0"/>
                    <a:pt x="10220198" y="64770"/>
                    <a:pt x="10220198" y="145288"/>
                  </a:cubicBezTo>
                  <a:lnTo>
                    <a:pt x="10213848" y="145288"/>
                  </a:lnTo>
                  <a:lnTo>
                    <a:pt x="10220198" y="145288"/>
                  </a:lnTo>
                  <a:lnTo>
                    <a:pt x="10220198" y="197993"/>
                  </a:lnTo>
                  <a:lnTo>
                    <a:pt x="10213848" y="197993"/>
                  </a:lnTo>
                  <a:lnTo>
                    <a:pt x="10220198" y="197993"/>
                  </a:lnTo>
                  <a:cubicBezTo>
                    <a:pt x="10220198" y="278384"/>
                    <a:pt x="10152635" y="343281"/>
                    <a:pt x="10069703" y="343281"/>
                  </a:cubicBezTo>
                  <a:lnTo>
                    <a:pt x="10069703" y="336931"/>
                  </a:lnTo>
                  <a:lnTo>
                    <a:pt x="10069703" y="343281"/>
                  </a:lnTo>
                  <a:lnTo>
                    <a:pt x="150495" y="343281"/>
                  </a:lnTo>
                  <a:lnTo>
                    <a:pt x="150495" y="336931"/>
                  </a:lnTo>
                  <a:lnTo>
                    <a:pt x="150495" y="343281"/>
                  </a:lnTo>
                  <a:cubicBezTo>
                    <a:pt x="67564" y="343281"/>
                    <a:pt x="0" y="278511"/>
                    <a:pt x="0" y="197993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197993"/>
                  </a:lnTo>
                  <a:lnTo>
                    <a:pt x="6350" y="197993"/>
                  </a:lnTo>
                  <a:lnTo>
                    <a:pt x="12700" y="197993"/>
                  </a:lnTo>
                  <a:cubicBezTo>
                    <a:pt x="12700" y="271018"/>
                    <a:pt x="74168" y="330581"/>
                    <a:pt x="150495" y="330581"/>
                  </a:cubicBezTo>
                  <a:lnTo>
                    <a:pt x="10069703" y="330581"/>
                  </a:lnTo>
                  <a:cubicBezTo>
                    <a:pt x="10146030" y="330581"/>
                    <a:pt x="10207498" y="271018"/>
                    <a:pt x="10207498" y="197993"/>
                  </a:cubicBezTo>
                  <a:lnTo>
                    <a:pt x="10207498" y="145288"/>
                  </a:lnTo>
                  <a:cubicBezTo>
                    <a:pt x="10207371" y="72263"/>
                    <a:pt x="10146030" y="12700"/>
                    <a:pt x="10069703" y="12700"/>
                  </a:cubicBezTo>
                  <a:lnTo>
                    <a:pt x="150495" y="12700"/>
                  </a:lnTo>
                  <a:lnTo>
                    <a:pt x="150495" y="6350"/>
                  </a:lnTo>
                  <a:lnTo>
                    <a:pt x="150495" y="12700"/>
                  </a:lnTo>
                  <a:cubicBezTo>
                    <a:pt x="74168" y="12700"/>
                    <a:pt x="12700" y="72263"/>
                    <a:pt x="12700" y="145288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7476" y="3603869"/>
            <a:ext cx="753666" cy="753666"/>
            <a:chOff x="0" y="0"/>
            <a:chExt cx="1004888" cy="10048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4951" cy="1004824"/>
            </a:xfrm>
            <a:custGeom>
              <a:avLst/>
              <a:gdLst/>
              <a:ahLst/>
              <a:cxnLst/>
              <a:rect r="r" b="b" t="t" l="l"/>
              <a:pathLst>
                <a:path h="1004824" w="1004951">
                  <a:moveTo>
                    <a:pt x="0" y="502412"/>
                  </a:moveTo>
                  <a:cubicBezTo>
                    <a:pt x="0" y="224917"/>
                    <a:pt x="224917" y="0"/>
                    <a:pt x="502412" y="0"/>
                  </a:cubicBezTo>
                  <a:cubicBezTo>
                    <a:pt x="503047" y="0"/>
                    <a:pt x="503682" y="127"/>
                    <a:pt x="504317" y="254"/>
                  </a:cubicBezTo>
                  <a:lnTo>
                    <a:pt x="502412" y="6350"/>
                  </a:lnTo>
                  <a:lnTo>
                    <a:pt x="502412" y="0"/>
                  </a:lnTo>
                  <a:cubicBezTo>
                    <a:pt x="779907" y="0"/>
                    <a:pt x="1004951" y="224917"/>
                    <a:pt x="1004951" y="502412"/>
                  </a:cubicBezTo>
                  <a:cubicBezTo>
                    <a:pt x="1004951" y="504063"/>
                    <a:pt x="1004316" y="505714"/>
                    <a:pt x="1003046" y="506857"/>
                  </a:cubicBezTo>
                  <a:lnTo>
                    <a:pt x="998601" y="502412"/>
                  </a:lnTo>
                  <a:lnTo>
                    <a:pt x="1004951" y="502412"/>
                  </a:lnTo>
                  <a:cubicBezTo>
                    <a:pt x="1004951" y="779907"/>
                    <a:pt x="780034" y="1004824"/>
                    <a:pt x="502539" y="1004824"/>
                  </a:cubicBezTo>
                  <a:lnTo>
                    <a:pt x="502539" y="998474"/>
                  </a:lnTo>
                  <a:lnTo>
                    <a:pt x="502539" y="1004824"/>
                  </a:lnTo>
                  <a:cubicBezTo>
                    <a:pt x="224917" y="1004951"/>
                    <a:pt x="0" y="779907"/>
                    <a:pt x="0" y="502412"/>
                  </a:cubicBezTo>
                  <a:cubicBezTo>
                    <a:pt x="0" y="498856"/>
                    <a:pt x="2794" y="496062"/>
                    <a:pt x="6350" y="496062"/>
                  </a:cubicBezTo>
                  <a:lnTo>
                    <a:pt x="6350" y="502412"/>
                  </a:lnTo>
                  <a:lnTo>
                    <a:pt x="0" y="502412"/>
                  </a:lnTo>
                  <a:moveTo>
                    <a:pt x="12700" y="502412"/>
                  </a:moveTo>
                  <a:cubicBezTo>
                    <a:pt x="12700" y="505968"/>
                    <a:pt x="9906" y="508762"/>
                    <a:pt x="6350" y="508762"/>
                  </a:cubicBezTo>
                  <a:lnTo>
                    <a:pt x="6350" y="502412"/>
                  </a:lnTo>
                  <a:lnTo>
                    <a:pt x="12700" y="502412"/>
                  </a:lnTo>
                  <a:cubicBezTo>
                    <a:pt x="12700" y="772922"/>
                    <a:pt x="232029" y="992124"/>
                    <a:pt x="502412" y="992124"/>
                  </a:cubicBezTo>
                  <a:cubicBezTo>
                    <a:pt x="772795" y="992124"/>
                    <a:pt x="992251" y="772922"/>
                    <a:pt x="992251" y="502412"/>
                  </a:cubicBezTo>
                  <a:cubicBezTo>
                    <a:pt x="992251" y="500761"/>
                    <a:pt x="992886" y="499110"/>
                    <a:pt x="994156" y="497967"/>
                  </a:cubicBezTo>
                  <a:lnTo>
                    <a:pt x="998601" y="502412"/>
                  </a:lnTo>
                  <a:lnTo>
                    <a:pt x="992251" y="502412"/>
                  </a:lnTo>
                  <a:cubicBezTo>
                    <a:pt x="992251" y="232029"/>
                    <a:pt x="772922" y="12700"/>
                    <a:pt x="502412" y="12700"/>
                  </a:cubicBezTo>
                  <a:cubicBezTo>
                    <a:pt x="501777" y="12700"/>
                    <a:pt x="501142" y="12573"/>
                    <a:pt x="500507" y="12446"/>
                  </a:cubicBezTo>
                  <a:lnTo>
                    <a:pt x="502412" y="6350"/>
                  </a:lnTo>
                  <a:lnTo>
                    <a:pt x="502412" y="12700"/>
                  </a:lnTo>
                  <a:cubicBezTo>
                    <a:pt x="232029" y="12700"/>
                    <a:pt x="12700" y="232029"/>
                    <a:pt x="12700" y="502412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1178271" y="3794674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6"/>
                </a:lnTo>
                <a:lnTo>
                  <a:pt x="0" y="37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500" r="0" b="-750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40184" y="4610252"/>
            <a:ext cx="3101130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Data Layer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0184" y="5051527"/>
            <a:ext cx="7531894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PostgreSQL · Redis · RAG Vector Store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35280" y="3479902"/>
            <a:ext cx="7665091" cy="257470"/>
            <a:chOff x="0" y="0"/>
            <a:chExt cx="10220122" cy="3432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10207498" cy="330581"/>
            </a:xfrm>
            <a:custGeom>
              <a:avLst/>
              <a:gdLst/>
              <a:ahLst/>
              <a:cxnLst/>
              <a:rect r="r" b="b" t="t" l="l"/>
              <a:pathLst>
                <a:path h="330581" w="10207498">
                  <a:moveTo>
                    <a:pt x="0" y="138938"/>
                  </a:moveTo>
                  <a:cubicBezTo>
                    <a:pt x="0" y="62230"/>
                    <a:pt x="64516" y="0"/>
                    <a:pt x="144145" y="0"/>
                  </a:cubicBezTo>
                  <a:lnTo>
                    <a:pt x="10063353" y="0"/>
                  </a:lnTo>
                  <a:cubicBezTo>
                    <a:pt x="10142982" y="0"/>
                    <a:pt x="10207498" y="62230"/>
                    <a:pt x="10207498" y="138938"/>
                  </a:cubicBezTo>
                  <a:lnTo>
                    <a:pt x="10207498" y="191643"/>
                  </a:lnTo>
                  <a:cubicBezTo>
                    <a:pt x="10207498" y="268351"/>
                    <a:pt x="10142982" y="330581"/>
                    <a:pt x="10063353" y="330581"/>
                  </a:cubicBezTo>
                  <a:lnTo>
                    <a:pt x="144145" y="330581"/>
                  </a:lnTo>
                  <a:cubicBezTo>
                    <a:pt x="64516" y="330581"/>
                    <a:pt x="0" y="268351"/>
                    <a:pt x="0" y="191643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20198" cy="343281"/>
            </a:xfrm>
            <a:custGeom>
              <a:avLst/>
              <a:gdLst/>
              <a:ahLst/>
              <a:cxnLst/>
              <a:rect r="r" b="b" t="t" l="l"/>
              <a:pathLst>
                <a:path h="343281" w="10220198">
                  <a:moveTo>
                    <a:pt x="0" y="145288"/>
                  </a:moveTo>
                  <a:cubicBezTo>
                    <a:pt x="0" y="64770"/>
                    <a:pt x="67564" y="0"/>
                    <a:pt x="150495" y="0"/>
                  </a:cubicBezTo>
                  <a:lnTo>
                    <a:pt x="10069703" y="0"/>
                  </a:lnTo>
                  <a:lnTo>
                    <a:pt x="10069703" y="6350"/>
                  </a:lnTo>
                  <a:lnTo>
                    <a:pt x="10069703" y="0"/>
                  </a:lnTo>
                  <a:cubicBezTo>
                    <a:pt x="10152507" y="0"/>
                    <a:pt x="10220198" y="64770"/>
                    <a:pt x="10220198" y="145288"/>
                  </a:cubicBezTo>
                  <a:lnTo>
                    <a:pt x="10213848" y="145288"/>
                  </a:lnTo>
                  <a:lnTo>
                    <a:pt x="10220198" y="145288"/>
                  </a:lnTo>
                  <a:lnTo>
                    <a:pt x="10220198" y="197993"/>
                  </a:lnTo>
                  <a:lnTo>
                    <a:pt x="10213848" y="197993"/>
                  </a:lnTo>
                  <a:lnTo>
                    <a:pt x="10220198" y="197993"/>
                  </a:lnTo>
                  <a:cubicBezTo>
                    <a:pt x="10220198" y="278384"/>
                    <a:pt x="10152635" y="343281"/>
                    <a:pt x="10069703" y="343281"/>
                  </a:cubicBezTo>
                  <a:lnTo>
                    <a:pt x="10069703" y="336931"/>
                  </a:lnTo>
                  <a:lnTo>
                    <a:pt x="10069703" y="343281"/>
                  </a:lnTo>
                  <a:lnTo>
                    <a:pt x="150495" y="343281"/>
                  </a:lnTo>
                  <a:lnTo>
                    <a:pt x="150495" y="336931"/>
                  </a:lnTo>
                  <a:lnTo>
                    <a:pt x="150495" y="343281"/>
                  </a:lnTo>
                  <a:cubicBezTo>
                    <a:pt x="67564" y="343281"/>
                    <a:pt x="0" y="278511"/>
                    <a:pt x="0" y="197993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197993"/>
                  </a:lnTo>
                  <a:lnTo>
                    <a:pt x="6350" y="197993"/>
                  </a:lnTo>
                  <a:lnTo>
                    <a:pt x="12700" y="197993"/>
                  </a:lnTo>
                  <a:cubicBezTo>
                    <a:pt x="12700" y="271018"/>
                    <a:pt x="74168" y="330581"/>
                    <a:pt x="150495" y="330581"/>
                  </a:cubicBezTo>
                  <a:lnTo>
                    <a:pt x="10069703" y="330581"/>
                  </a:lnTo>
                  <a:cubicBezTo>
                    <a:pt x="10146030" y="330581"/>
                    <a:pt x="10207498" y="271018"/>
                    <a:pt x="10207498" y="197993"/>
                  </a:cubicBezTo>
                  <a:lnTo>
                    <a:pt x="10207498" y="145288"/>
                  </a:lnTo>
                  <a:cubicBezTo>
                    <a:pt x="10207371" y="72263"/>
                    <a:pt x="10146030" y="12700"/>
                    <a:pt x="10069703" y="12700"/>
                  </a:cubicBezTo>
                  <a:lnTo>
                    <a:pt x="150495" y="12700"/>
                  </a:lnTo>
                  <a:lnTo>
                    <a:pt x="150495" y="6350"/>
                  </a:lnTo>
                  <a:lnTo>
                    <a:pt x="150495" y="12700"/>
                  </a:lnTo>
                  <a:cubicBezTo>
                    <a:pt x="74168" y="12700"/>
                    <a:pt x="12700" y="72263"/>
                    <a:pt x="12700" y="145288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63215" y="3231804"/>
            <a:ext cx="753666" cy="753666"/>
            <a:chOff x="0" y="0"/>
            <a:chExt cx="1004888" cy="10048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4951" cy="1004824"/>
            </a:xfrm>
            <a:custGeom>
              <a:avLst/>
              <a:gdLst/>
              <a:ahLst/>
              <a:cxnLst/>
              <a:rect r="r" b="b" t="t" l="l"/>
              <a:pathLst>
                <a:path h="1004824" w="1004951">
                  <a:moveTo>
                    <a:pt x="0" y="502412"/>
                  </a:moveTo>
                  <a:cubicBezTo>
                    <a:pt x="0" y="224917"/>
                    <a:pt x="224917" y="0"/>
                    <a:pt x="502412" y="0"/>
                  </a:cubicBezTo>
                  <a:cubicBezTo>
                    <a:pt x="503047" y="0"/>
                    <a:pt x="503682" y="127"/>
                    <a:pt x="504317" y="254"/>
                  </a:cubicBezTo>
                  <a:lnTo>
                    <a:pt x="502412" y="6350"/>
                  </a:lnTo>
                  <a:lnTo>
                    <a:pt x="502412" y="0"/>
                  </a:lnTo>
                  <a:cubicBezTo>
                    <a:pt x="779907" y="0"/>
                    <a:pt x="1004951" y="224917"/>
                    <a:pt x="1004951" y="502412"/>
                  </a:cubicBezTo>
                  <a:cubicBezTo>
                    <a:pt x="1004951" y="504063"/>
                    <a:pt x="1004316" y="505714"/>
                    <a:pt x="1003046" y="506857"/>
                  </a:cubicBezTo>
                  <a:lnTo>
                    <a:pt x="998601" y="502412"/>
                  </a:lnTo>
                  <a:lnTo>
                    <a:pt x="1004951" y="502412"/>
                  </a:lnTo>
                  <a:cubicBezTo>
                    <a:pt x="1004951" y="779907"/>
                    <a:pt x="780034" y="1004824"/>
                    <a:pt x="502539" y="1004824"/>
                  </a:cubicBezTo>
                  <a:lnTo>
                    <a:pt x="502539" y="998474"/>
                  </a:lnTo>
                  <a:lnTo>
                    <a:pt x="502539" y="1004824"/>
                  </a:lnTo>
                  <a:cubicBezTo>
                    <a:pt x="224917" y="1004951"/>
                    <a:pt x="0" y="779907"/>
                    <a:pt x="0" y="502412"/>
                  </a:cubicBezTo>
                  <a:cubicBezTo>
                    <a:pt x="0" y="498856"/>
                    <a:pt x="2794" y="496062"/>
                    <a:pt x="6350" y="496062"/>
                  </a:cubicBezTo>
                  <a:lnTo>
                    <a:pt x="6350" y="502412"/>
                  </a:lnTo>
                  <a:lnTo>
                    <a:pt x="0" y="502412"/>
                  </a:lnTo>
                  <a:moveTo>
                    <a:pt x="12700" y="502412"/>
                  </a:moveTo>
                  <a:cubicBezTo>
                    <a:pt x="12700" y="505968"/>
                    <a:pt x="9906" y="508762"/>
                    <a:pt x="6350" y="508762"/>
                  </a:cubicBezTo>
                  <a:lnTo>
                    <a:pt x="6350" y="502412"/>
                  </a:lnTo>
                  <a:lnTo>
                    <a:pt x="12700" y="502412"/>
                  </a:lnTo>
                  <a:cubicBezTo>
                    <a:pt x="12700" y="772922"/>
                    <a:pt x="232029" y="992124"/>
                    <a:pt x="502412" y="992124"/>
                  </a:cubicBezTo>
                  <a:cubicBezTo>
                    <a:pt x="772795" y="992124"/>
                    <a:pt x="992251" y="772922"/>
                    <a:pt x="992251" y="502412"/>
                  </a:cubicBezTo>
                  <a:cubicBezTo>
                    <a:pt x="992251" y="500761"/>
                    <a:pt x="992886" y="499110"/>
                    <a:pt x="994156" y="497967"/>
                  </a:cubicBezTo>
                  <a:lnTo>
                    <a:pt x="998601" y="502412"/>
                  </a:lnTo>
                  <a:lnTo>
                    <a:pt x="992251" y="502412"/>
                  </a:lnTo>
                  <a:cubicBezTo>
                    <a:pt x="992251" y="232029"/>
                    <a:pt x="772922" y="12700"/>
                    <a:pt x="502412" y="12700"/>
                  </a:cubicBezTo>
                  <a:cubicBezTo>
                    <a:pt x="501777" y="12700"/>
                    <a:pt x="501142" y="12573"/>
                    <a:pt x="500507" y="12446"/>
                  </a:cubicBezTo>
                  <a:lnTo>
                    <a:pt x="502412" y="6350"/>
                  </a:lnTo>
                  <a:lnTo>
                    <a:pt x="502412" y="12700"/>
                  </a:lnTo>
                  <a:cubicBezTo>
                    <a:pt x="232029" y="12700"/>
                    <a:pt x="12700" y="232029"/>
                    <a:pt x="12700" y="502412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9454010" y="3422599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6"/>
                </a:lnTo>
                <a:lnTo>
                  <a:pt x="0" y="3720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515923" y="4238177"/>
            <a:ext cx="3101130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Intelligence Layer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15923" y="4679452"/>
            <a:ext cx="7531894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LLM (OpenAI/Groq) · NL-to-SQL Engine · RAG Service · Language Detector · Prompt Templates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59541" y="6670329"/>
            <a:ext cx="7665091" cy="257470"/>
            <a:chOff x="0" y="0"/>
            <a:chExt cx="10220122" cy="34329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10207498" cy="330581"/>
            </a:xfrm>
            <a:custGeom>
              <a:avLst/>
              <a:gdLst/>
              <a:ahLst/>
              <a:cxnLst/>
              <a:rect r="r" b="b" t="t" l="l"/>
              <a:pathLst>
                <a:path h="330581" w="10207498">
                  <a:moveTo>
                    <a:pt x="0" y="138938"/>
                  </a:moveTo>
                  <a:cubicBezTo>
                    <a:pt x="0" y="62230"/>
                    <a:pt x="64516" y="0"/>
                    <a:pt x="144145" y="0"/>
                  </a:cubicBezTo>
                  <a:lnTo>
                    <a:pt x="10063353" y="0"/>
                  </a:lnTo>
                  <a:cubicBezTo>
                    <a:pt x="10142982" y="0"/>
                    <a:pt x="10207498" y="62230"/>
                    <a:pt x="10207498" y="138938"/>
                  </a:cubicBezTo>
                  <a:lnTo>
                    <a:pt x="10207498" y="191643"/>
                  </a:lnTo>
                  <a:cubicBezTo>
                    <a:pt x="10207498" y="268351"/>
                    <a:pt x="10142982" y="330581"/>
                    <a:pt x="10063353" y="330581"/>
                  </a:cubicBezTo>
                  <a:lnTo>
                    <a:pt x="144145" y="330581"/>
                  </a:lnTo>
                  <a:cubicBezTo>
                    <a:pt x="64516" y="330581"/>
                    <a:pt x="0" y="268351"/>
                    <a:pt x="0" y="191643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20198" cy="343281"/>
            </a:xfrm>
            <a:custGeom>
              <a:avLst/>
              <a:gdLst/>
              <a:ahLst/>
              <a:cxnLst/>
              <a:rect r="r" b="b" t="t" l="l"/>
              <a:pathLst>
                <a:path h="343281" w="10220198">
                  <a:moveTo>
                    <a:pt x="0" y="145288"/>
                  </a:moveTo>
                  <a:cubicBezTo>
                    <a:pt x="0" y="64770"/>
                    <a:pt x="67564" y="0"/>
                    <a:pt x="150495" y="0"/>
                  </a:cubicBezTo>
                  <a:lnTo>
                    <a:pt x="10069703" y="0"/>
                  </a:lnTo>
                  <a:lnTo>
                    <a:pt x="10069703" y="6350"/>
                  </a:lnTo>
                  <a:lnTo>
                    <a:pt x="10069703" y="0"/>
                  </a:lnTo>
                  <a:cubicBezTo>
                    <a:pt x="10152507" y="0"/>
                    <a:pt x="10220198" y="64770"/>
                    <a:pt x="10220198" y="145288"/>
                  </a:cubicBezTo>
                  <a:lnTo>
                    <a:pt x="10213848" y="145288"/>
                  </a:lnTo>
                  <a:lnTo>
                    <a:pt x="10220198" y="145288"/>
                  </a:lnTo>
                  <a:lnTo>
                    <a:pt x="10220198" y="197993"/>
                  </a:lnTo>
                  <a:lnTo>
                    <a:pt x="10213848" y="197993"/>
                  </a:lnTo>
                  <a:lnTo>
                    <a:pt x="10220198" y="197993"/>
                  </a:lnTo>
                  <a:cubicBezTo>
                    <a:pt x="10220198" y="278384"/>
                    <a:pt x="10152635" y="343281"/>
                    <a:pt x="10069703" y="343281"/>
                  </a:cubicBezTo>
                  <a:lnTo>
                    <a:pt x="10069703" y="336931"/>
                  </a:lnTo>
                  <a:lnTo>
                    <a:pt x="10069703" y="343281"/>
                  </a:lnTo>
                  <a:lnTo>
                    <a:pt x="150495" y="343281"/>
                  </a:lnTo>
                  <a:lnTo>
                    <a:pt x="150495" y="336931"/>
                  </a:lnTo>
                  <a:lnTo>
                    <a:pt x="150495" y="343281"/>
                  </a:lnTo>
                  <a:cubicBezTo>
                    <a:pt x="67564" y="343281"/>
                    <a:pt x="0" y="278511"/>
                    <a:pt x="0" y="197993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197993"/>
                  </a:lnTo>
                  <a:lnTo>
                    <a:pt x="6350" y="197993"/>
                  </a:lnTo>
                  <a:lnTo>
                    <a:pt x="12700" y="197993"/>
                  </a:lnTo>
                  <a:cubicBezTo>
                    <a:pt x="12700" y="271018"/>
                    <a:pt x="74168" y="330581"/>
                    <a:pt x="150495" y="330581"/>
                  </a:cubicBezTo>
                  <a:lnTo>
                    <a:pt x="10069703" y="330581"/>
                  </a:lnTo>
                  <a:cubicBezTo>
                    <a:pt x="10146030" y="330581"/>
                    <a:pt x="10207498" y="271018"/>
                    <a:pt x="10207498" y="197993"/>
                  </a:cubicBezTo>
                  <a:lnTo>
                    <a:pt x="10207498" y="145288"/>
                  </a:lnTo>
                  <a:cubicBezTo>
                    <a:pt x="10207371" y="72263"/>
                    <a:pt x="10146030" y="12700"/>
                    <a:pt x="10069703" y="12700"/>
                  </a:cubicBezTo>
                  <a:lnTo>
                    <a:pt x="150495" y="12700"/>
                  </a:lnTo>
                  <a:lnTo>
                    <a:pt x="150495" y="6350"/>
                  </a:lnTo>
                  <a:lnTo>
                    <a:pt x="150495" y="12700"/>
                  </a:lnTo>
                  <a:cubicBezTo>
                    <a:pt x="74168" y="12700"/>
                    <a:pt x="12700" y="72263"/>
                    <a:pt x="12700" y="145288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7476" y="6422231"/>
            <a:ext cx="753666" cy="753666"/>
            <a:chOff x="0" y="0"/>
            <a:chExt cx="1004888" cy="10048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4951" cy="1004824"/>
            </a:xfrm>
            <a:custGeom>
              <a:avLst/>
              <a:gdLst/>
              <a:ahLst/>
              <a:cxnLst/>
              <a:rect r="r" b="b" t="t" l="l"/>
              <a:pathLst>
                <a:path h="1004824" w="1004951">
                  <a:moveTo>
                    <a:pt x="0" y="502412"/>
                  </a:moveTo>
                  <a:cubicBezTo>
                    <a:pt x="0" y="224917"/>
                    <a:pt x="224917" y="0"/>
                    <a:pt x="502412" y="0"/>
                  </a:cubicBezTo>
                  <a:cubicBezTo>
                    <a:pt x="503047" y="0"/>
                    <a:pt x="503682" y="127"/>
                    <a:pt x="504317" y="254"/>
                  </a:cubicBezTo>
                  <a:lnTo>
                    <a:pt x="502412" y="6350"/>
                  </a:lnTo>
                  <a:lnTo>
                    <a:pt x="502412" y="0"/>
                  </a:lnTo>
                  <a:cubicBezTo>
                    <a:pt x="779907" y="0"/>
                    <a:pt x="1004951" y="224917"/>
                    <a:pt x="1004951" y="502412"/>
                  </a:cubicBezTo>
                  <a:cubicBezTo>
                    <a:pt x="1004951" y="504063"/>
                    <a:pt x="1004316" y="505714"/>
                    <a:pt x="1003046" y="506857"/>
                  </a:cubicBezTo>
                  <a:lnTo>
                    <a:pt x="998601" y="502412"/>
                  </a:lnTo>
                  <a:lnTo>
                    <a:pt x="1004951" y="502412"/>
                  </a:lnTo>
                  <a:cubicBezTo>
                    <a:pt x="1004951" y="779907"/>
                    <a:pt x="780034" y="1004824"/>
                    <a:pt x="502539" y="1004824"/>
                  </a:cubicBezTo>
                  <a:lnTo>
                    <a:pt x="502539" y="998474"/>
                  </a:lnTo>
                  <a:lnTo>
                    <a:pt x="502539" y="1004824"/>
                  </a:lnTo>
                  <a:cubicBezTo>
                    <a:pt x="224917" y="1004951"/>
                    <a:pt x="0" y="779907"/>
                    <a:pt x="0" y="502412"/>
                  </a:cubicBezTo>
                  <a:cubicBezTo>
                    <a:pt x="0" y="498856"/>
                    <a:pt x="2794" y="496062"/>
                    <a:pt x="6350" y="496062"/>
                  </a:cubicBezTo>
                  <a:lnTo>
                    <a:pt x="6350" y="502412"/>
                  </a:lnTo>
                  <a:lnTo>
                    <a:pt x="0" y="502412"/>
                  </a:lnTo>
                  <a:moveTo>
                    <a:pt x="12700" y="502412"/>
                  </a:moveTo>
                  <a:cubicBezTo>
                    <a:pt x="12700" y="505968"/>
                    <a:pt x="9906" y="508762"/>
                    <a:pt x="6350" y="508762"/>
                  </a:cubicBezTo>
                  <a:lnTo>
                    <a:pt x="6350" y="502412"/>
                  </a:lnTo>
                  <a:lnTo>
                    <a:pt x="12700" y="502412"/>
                  </a:lnTo>
                  <a:cubicBezTo>
                    <a:pt x="12700" y="772922"/>
                    <a:pt x="232029" y="992124"/>
                    <a:pt x="502412" y="992124"/>
                  </a:cubicBezTo>
                  <a:cubicBezTo>
                    <a:pt x="772795" y="992124"/>
                    <a:pt x="992251" y="772922"/>
                    <a:pt x="992251" y="502412"/>
                  </a:cubicBezTo>
                  <a:cubicBezTo>
                    <a:pt x="992251" y="500761"/>
                    <a:pt x="992886" y="499110"/>
                    <a:pt x="994156" y="497967"/>
                  </a:cubicBezTo>
                  <a:lnTo>
                    <a:pt x="998601" y="502412"/>
                  </a:lnTo>
                  <a:lnTo>
                    <a:pt x="992251" y="502412"/>
                  </a:lnTo>
                  <a:cubicBezTo>
                    <a:pt x="992251" y="232029"/>
                    <a:pt x="772922" y="12700"/>
                    <a:pt x="502412" y="12700"/>
                  </a:cubicBezTo>
                  <a:cubicBezTo>
                    <a:pt x="501777" y="12700"/>
                    <a:pt x="501142" y="12573"/>
                    <a:pt x="500507" y="12446"/>
                  </a:cubicBezTo>
                  <a:lnTo>
                    <a:pt x="502412" y="6350"/>
                  </a:lnTo>
                  <a:lnTo>
                    <a:pt x="502412" y="12700"/>
                  </a:lnTo>
                  <a:cubicBezTo>
                    <a:pt x="232029" y="12700"/>
                    <a:pt x="12700" y="232029"/>
                    <a:pt x="12700" y="502412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178271" y="6613027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5"/>
                </a:lnTo>
                <a:lnTo>
                  <a:pt x="0" y="3720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40184" y="7428605"/>
            <a:ext cx="3101130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Brain Layer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0184" y="7869879"/>
            <a:ext cx="7531894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Orchestrator Service · Revenue Engine · Upsell Rules · Context Summarizer · Conversation State Machine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635280" y="6298254"/>
            <a:ext cx="7665091" cy="257470"/>
            <a:chOff x="0" y="0"/>
            <a:chExt cx="10220122" cy="3432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10207498" cy="330581"/>
            </a:xfrm>
            <a:custGeom>
              <a:avLst/>
              <a:gdLst/>
              <a:ahLst/>
              <a:cxnLst/>
              <a:rect r="r" b="b" t="t" l="l"/>
              <a:pathLst>
                <a:path h="330581" w="10207498">
                  <a:moveTo>
                    <a:pt x="0" y="138938"/>
                  </a:moveTo>
                  <a:cubicBezTo>
                    <a:pt x="0" y="62230"/>
                    <a:pt x="64516" y="0"/>
                    <a:pt x="144145" y="0"/>
                  </a:cubicBezTo>
                  <a:lnTo>
                    <a:pt x="10063353" y="0"/>
                  </a:lnTo>
                  <a:cubicBezTo>
                    <a:pt x="10142982" y="0"/>
                    <a:pt x="10207498" y="62230"/>
                    <a:pt x="10207498" y="138938"/>
                  </a:cubicBezTo>
                  <a:lnTo>
                    <a:pt x="10207498" y="191643"/>
                  </a:lnTo>
                  <a:cubicBezTo>
                    <a:pt x="10207498" y="268351"/>
                    <a:pt x="10142982" y="330581"/>
                    <a:pt x="10063353" y="330581"/>
                  </a:cubicBezTo>
                  <a:lnTo>
                    <a:pt x="144145" y="330581"/>
                  </a:lnTo>
                  <a:cubicBezTo>
                    <a:pt x="64516" y="330581"/>
                    <a:pt x="0" y="268351"/>
                    <a:pt x="0" y="191643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20198" cy="343281"/>
            </a:xfrm>
            <a:custGeom>
              <a:avLst/>
              <a:gdLst/>
              <a:ahLst/>
              <a:cxnLst/>
              <a:rect r="r" b="b" t="t" l="l"/>
              <a:pathLst>
                <a:path h="343281" w="10220198">
                  <a:moveTo>
                    <a:pt x="0" y="145288"/>
                  </a:moveTo>
                  <a:cubicBezTo>
                    <a:pt x="0" y="64770"/>
                    <a:pt x="67564" y="0"/>
                    <a:pt x="150495" y="0"/>
                  </a:cubicBezTo>
                  <a:lnTo>
                    <a:pt x="10069703" y="0"/>
                  </a:lnTo>
                  <a:lnTo>
                    <a:pt x="10069703" y="6350"/>
                  </a:lnTo>
                  <a:lnTo>
                    <a:pt x="10069703" y="0"/>
                  </a:lnTo>
                  <a:cubicBezTo>
                    <a:pt x="10152507" y="0"/>
                    <a:pt x="10220198" y="64770"/>
                    <a:pt x="10220198" y="145288"/>
                  </a:cubicBezTo>
                  <a:lnTo>
                    <a:pt x="10213848" y="145288"/>
                  </a:lnTo>
                  <a:lnTo>
                    <a:pt x="10220198" y="145288"/>
                  </a:lnTo>
                  <a:lnTo>
                    <a:pt x="10220198" y="197993"/>
                  </a:lnTo>
                  <a:lnTo>
                    <a:pt x="10213848" y="197993"/>
                  </a:lnTo>
                  <a:lnTo>
                    <a:pt x="10220198" y="197993"/>
                  </a:lnTo>
                  <a:cubicBezTo>
                    <a:pt x="10220198" y="278384"/>
                    <a:pt x="10152635" y="343281"/>
                    <a:pt x="10069703" y="343281"/>
                  </a:cubicBezTo>
                  <a:lnTo>
                    <a:pt x="10069703" y="336931"/>
                  </a:lnTo>
                  <a:lnTo>
                    <a:pt x="10069703" y="343281"/>
                  </a:lnTo>
                  <a:lnTo>
                    <a:pt x="150495" y="343281"/>
                  </a:lnTo>
                  <a:lnTo>
                    <a:pt x="150495" y="336931"/>
                  </a:lnTo>
                  <a:lnTo>
                    <a:pt x="150495" y="343281"/>
                  </a:lnTo>
                  <a:cubicBezTo>
                    <a:pt x="67564" y="343281"/>
                    <a:pt x="0" y="278511"/>
                    <a:pt x="0" y="197993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197993"/>
                  </a:lnTo>
                  <a:lnTo>
                    <a:pt x="6350" y="197993"/>
                  </a:lnTo>
                  <a:lnTo>
                    <a:pt x="12700" y="197993"/>
                  </a:lnTo>
                  <a:cubicBezTo>
                    <a:pt x="12700" y="271018"/>
                    <a:pt x="74168" y="330581"/>
                    <a:pt x="150495" y="330581"/>
                  </a:cubicBezTo>
                  <a:lnTo>
                    <a:pt x="10069703" y="330581"/>
                  </a:lnTo>
                  <a:cubicBezTo>
                    <a:pt x="10146030" y="330581"/>
                    <a:pt x="10207498" y="271018"/>
                    <a:pt x="10207498" y="197993"/>
                  </a:cubicBezTo>
                  <a:lnTo>
                    <a:pt x="10207498" y="145288"/>
                  </a:lnTo>
                  <a:cubicBezTo>
                    <a:pt x="10207371" y="72263"/>
                    <a:pt x="10146030" y="12700"/>
                    <a:pt x="10069703" y="12700"/>
                  </a:cubicBezTo>
                  <a:lnTo>
                    <a:pt x="150495" y="12700"/>
                  </a:lnTo>
                  <a:lnTo>
                    <a:pt x="150495" y="6350"/>
                  </a:lnTo>
                  <a:lnTo>
                    <a:pt x="150495" y="12700"/>
                  </a:lnTo>
                  <a:cubicBezTo>
                    <a:pt x="74168" y="12700"/>
                    <a:pt x="12700" y="72263"/>
                    <a:pt x="12700" y="145288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263215" y="6050166"/>
            <a:ext cx="753666" cy="753666"/>
            <a:chOff x="0" y="0"/>
            <a:chExt cx="1004888" cy="10048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" y="6350"/>
              <a:ext cx="992251" cy="992251"/>
            </a:xfrm>
            <a:custGeom>
              <a:avLst/>
              <a:gdLst/>
              <a:ahLst/>
              <a:cxnLst/>
              <a:rect r="r" b="b" t="t" l="l"/>
              <a:pathLst>
                <a:path h="992251" w="992251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251" y="222123"/>
                    <a:pt x="992251" y="496062"/>
                  </a:cubicBezTo>
                  <a:cubicBezTo>
                    <a:pt x="992251" y="770001"/>
                    <a:pt x="770128" y="992251"/>
                    <a:pt x="496062" y="992251"/>
                  </a:cubicBezTo>
                  <a:cubicBezTo>
                    <a:pt x="221996" y="992251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4951" cy="1004824"/>
            </a:xfrm>
            <a:custGeom>
              <a:avLst/>
              <a:gdLst/>
              <a:ahLst/>
              <a:cxnLst/>
              <a:rect r="r" b="b" t="t" l="l"/>
              <a:pathLst>
                <a:path h="1004824" w="1004951">
                  <a:moveTo>
                    <a:pt x="0" y="502412"/>
                  </a:moveTo>
                  <a:cubicBezTo>
                    <a:pt x="0" y="224917"/>
                    <a:pt x="224917" y="0"/>
                    <a:pt x="502412" y="0"/>
                  </a:cubicBezTo>
                  <a:cubicBezTo>
                    <a:pt x="503047" y="0"/>
                    <a:pt x="503682" y="127"/>
                    <a:pt x="504317" y="254"/>
                  </a:cubicBezTo>
                  <a:lnTo>
                    <a:pt x="502412" y="6350"/>
                  </a:lnTo>
                  <a:lnTo>
                    <a:pt x="502412" y="0"/>
                  </a:lnTo>
                  <a:cubicBezTo>
                    <a:pt x="779907" y="0"/>
                    <a:pt x="1004951" y="224917"/>
                    <a:pt x="1004951" y="502412"/>
                  </a:cubicBezTo>
                  <a:cubicBezTo>
                    <a:pt x="1004951" y="504063"/>
                    <a:pt x="1004316" y="505714"/>
                    <a:pt x="1003046" y="506857"/>
                  </a:cubicBezTo>
                  <a:lnTo>
                    <a:pt x="998601" y="502412"/>
                  </a:lnTo>
                  <a:lnTo>
                    <a:pt x="1004951" y="502412"/>
                  </a:lnTo>
                  <a:cubicBezTo>
                    <a:pt x="1004951" y="779907"/>
                    <a:pt x="780034" y="1004824"/>
                    <a:pt x="502539" y="1004824"/>
                  </a:cubicBezTo>
                  <a:lnTo>
                    <a:pt x="502539" y="998474"/>
                  </a:lnTo>
                  <a:lnTo>
                    <a:pt x="502539" y="1004824"/>
                  </a:lnTo>
                  <a:cubicBezTo>
                    <a:pt x="224917" y="1004951"/>
                    <a:pt x="0" y="779907"/>
                    <a:pt x="0" y="502412"/>
                  </a:cubicBezTo>
                  <a:cubicBezTo>
                    <a:pt x="0" y="498856"/>
                    <a:pt x="2794" y="496062"/>
                    <a:pt x="6350" y="496062"/>
                  </a:cubicBezTo>
                  <a:lnTo>
                    <a:pt x="6350" y="502412"/>
                  </a:lnTo>
                  <a:lnTo>
                    <a:pt x="0" y="502412"/>
                  </a:lnTo>
                  <a:moveTo>
                    <a:pt x="12700" y="502412"/>
                  </a:moveTo>
                  <a:cubicBezTo>
                    <a:pt x="12700" y="505968"/>
                    <a:pt x="9906" y="508762"/>
                    <a:pt x="6350" y="508762"/>
                  </a:cubicBezTo>
                  <a:lnTo>
                    <a:pt x="6350" y="502412"/>
                  </a:lnTo>
                  <a:lnTo>
                    <a:pt x="12700" y="502412"/>
                  </a:lnTo>
                  <a:cubicBezTo>
                    <a:pt x="12700" y="772922"/>
                    <a:pt x="232029" y="992124"/>
                    <a:pt x="502412" y="992124"/>
                  </a:cubicBezTo>
                  <a:cubicBezTo>
                    <a:pt x="772795" y="992124"/>
                    <a:pt x="992251" y="772922"/>
                    <a:pt x="992251" y="502412"/>
                  </a:cubicBezTo>
                  <a:cubicBezTo>
                    <a:pt x="992251" y="500761"/>
                    <a:pt x="992886" y="499110"/>
                    <a:pt x="994156" y="497967"/>
                  </a:cubicBezTo>
                  <a:lnTo>
                    <a:pt x="998601" y="502412"/>
                  </a:lnTo>
                  <a:lnTo>
                    <a:pt x="992251" y="502412"/>
                  </a:lnTo>
                  <a:cubicBezTo>
                    <a:pt x="992251" y="232029"/>
                    <a:pt x="772922" y="12700"/>
                    <a:pt x="502412" y="12700"/>
                  </a:cubicBezTo>
                  <a:cubicBezTo>
                    <a:pt x="501777" y="12700"/>
                    <a:pt x="501142" y="12573"/>
                    <a:pt x="500507" y="12446"/>
                  </a:cubicBezTo>
                  <a:lnTo>
                    <a:pt x="502412" y="6350"/>
                  </a:lnTo>
                  <a:lnTo>
                    <a:pt x="502412" y="12700"/>
                  </a:lnTo>
                  <a:cubicBezTo>
                    <a:pt x="232029" y="12700"/>
                    <a:pt x="12700" y="232029"/>
                    <a:pt x="12700" y="502412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name="Freeform 41" id="41" descr="preencoded.png"/>
          <p:cNvSpPr/>
          <p:nvPr/>
        </p:nvSpPr>
        <p:spPr>
          <a:xfrm flipH="false" flipV="false" rot="0">
            <a:off x="9454010" y="6240961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6"/>
                </a:lnTo>
                <a:lnTo>
                  <a:pt x="0" y="3720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6249" t="0" r="-6251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515923" y="7056539"/>
            <a:ext cx="3101130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Interface Layer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15923" y="7497813"/>
            <a:ext cx="7531894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Next.js Dashboard · Voice Agent (Python/WebSocket) · Revenue Copilot Chat · POS Adapter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96810" y="2076621"/>
            <a:ext cx="7851955" cy="6133758"/>
            <a:chOff x="0" y="0"/>
            <a:chExt cx="17558145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55814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558145">
                  <a:moveTo>
                    <a:pt x="0" y="0"/>
                  </a:moveTo>
                  <a:lnTo>
                    <a:pt x="17558145" y="0"/>
                  </a:lnTo>
                  <a:lnTo>
                    <a:pt x="1755814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33" t="0" r="-173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51770"/>
            <a:ext cx="8765597" cy="166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4"/>
              </a:lnSpc>
            </a:pPr>
            <a:r>
              <a:rPr lang="en-US" sz="5366" b="true">
                <a:solidFill>
                  <a:srgbClr val="3A3A3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Every Revenue Signal — At a Glance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101294"/>
            <a:ext cx="8974209" cy="1263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The Revenue Intelligence Dashboard surfaces every critical metric and trend, powered by 8 charts with AI-generated "Intelligence Signals" — plain-language actions the owner can take today.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059056"/>
            <a:ext cx="3414010" cy="44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68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5 KPI Cards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692153"/>
            <a:ext cx="4866152" cy="265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1680" indent="-160840" lvl="1">
              <a:lnSpc>
                <a:spcPts val="3440"/>
              </a:lnSpc>
              <a:buFont typeface="Arial"/>
              <a:buChar char="•"/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Total Revenue</a:t>
            </a:r>
          </a:p>
          <a:p>
            <a:pPr algn="l" marL="321680" indent="-160840" lvl="1">
              <a:lnSpc>
                <a:spcPts val="3440"/>
              </a:lnSpc>
              <a:buFont typeface="Arial"/>
              <a:buChar char="•"/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Best Day</a:t>
            </a:r>
          </a:p>
          <a:p>
            <a:pPr algn="l" marL="321680" indent="-160840" lvl="1">
              <a:lnSpc>
                <a:spcPts val="3440"/>
              </a:lnSpc>
              <a:buFont typeface="Arial"/>
              <a:buChar char="•"/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Peak Hour</a:t>
            </a:r>
          </a:p>
          <a:p>
            <a:pPr algn="l" marL="321680" indent="-160840" lvl="1">
              <a:lnSpc>
                <a:spcPts val="3440"/>
              </a:lnSpc>
              <a:buFont typeface="Arial"/>
              <a:buChar char="•"/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Hidden Gold Item Count</a:t>
            </a:r>
          </a:p>
          <a:p>
            <a:pPr algn="l" marL="321680" indent="-160840" lvl="1">
              <a:lnSpc>
                <a:spcPts val="3440"/>
              </a:lnSpc>
              <a:buFont typeface="Arial"/>
              <a:buChar char="•"/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Top Trending Item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75291" y="5087400"/>
            <a:ext cx="2919564" cy="41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68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6 </a:t>
            </a:r>
            <a:r>
              <a:rPr lang="en-US" sz="2683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Analytics Charts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00295" y="5692153"/>
            <a:ext cx="4866152" cy="298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1544" indent="-160772" lvl="1">
              <a:lnSpc>
                <a:spcPts val="3440"/>
              </a:lnSpc>
              <a:buFont typeface="Arial"/>
              <a:buChar char="•"/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Menu Position Matrix</a:t>
            </a:r>
          </a:p>
          <a:p>
            <a:pPr algn="l" marL="321680" indent="-160840" lvl="1">
              <a:lnSpc>
                <a:spcPts val="3440"/>
              </a:lnSpc>
              <a:buFont typeface="Arial"/>
              <a:buChar char="•"/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Daily Revenue Trend</a:t>
            </a:r>
          </a:p>
          <a:p>
            <a:pPr algn="l" marL="321680" indent="-160840" lvl="1">
              <a:lnSpc>
                <a:spcPts val="3440"/>
              </a:lnSpc>
              <a:buFont typeface="Arial"/>
              <a:buChar char="•"/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Revenue by Day of Week</a:t>
            </a:r>
          </a:p>
          <a:p>
            <a:pPr algn="l" marL="321680" indent="-160840" lvl="1">
              <a:lnSpc>
                <a:spcPts val="3440"/>
              </a:lnSpc>
              <a:buFont typeface="Arial"/>
              <a:buChar char="•"/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Item Revenue Contribution</a:t>
            </a:r>
          </a:p>
          <a:p>
            <a:pPr algn="l" marL="321680" indent="-160840" lvl="1">
              <a:lnSpc>
                <a:spcPts val="3440"/>
              </a:lnSpc>
              <a:buFont typeface="Arial"/>
              <a:buChar char="•"/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Trending Items Top 5</a:t>
            </a:r>
          </a:p>
          <a:p>
            <a:pPr algn="l" marL="321680" indent="-160840" lvl="1">
              <a:lnSpc>
                <a:spcPts val="3440"/>
              </a:lnSpc>
              <a:buFont typeface="Arial"/>
              <a:buChar char="•"/>
            </a:pPr>
            <a:r>
              <a:rPr lang="en-US" sz="2132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Peak Order Hours</a:t>
            </a:r>
          </a:p>
          <a:p>
            <a:pPr algn="l">
              <a:lnSpc>
                <a:spcPts val="34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78386" y="1678781"/>
            <a:ext cx="8144170" cy="5033372"/>
            <a:chOff x="0" y="0"/>
            <a:chExt cx="10858894" cy="67111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58881" cy="6711188"/>
            </a:xfrm>
            <a:custGeom>
              <a:avLst/>
              <a:gdLst/>
              <a:ahLst/>
              <a:cxnLst/>
              <a:rect r="r" b="b" t="t" l="l"/>
              <a:pathLst>
                <a:path h="6711188" w="10858881">
                  <a:moveTo>
                    <a:pt x="0" y="0"/>
                  </a:moveTo>
                  <a:lnTo>
                    <a:pt x="10858881" y="0"/>
                  </a:lnTo>
                  <a:lnTo>
                    <a:pt x="10858881" y="6711188"/>
                  </a:lnTo>
                  <a:lnTo>
                    <a:pt x="0" y="6711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6" t="0" r="-5723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65444" y="1678781"/>
            <a:ext cx="8144170" cy="5033372"/>
            <a:chOff x="0" y="0"/>
            <a:chExt cx="10858894" cy="67111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58881" cy="6711188"/>
            </a:xfrm>
            <a:custGeom>
              <a:avLst/>
              <a:gdLst/>
              <a:ahLst/>
              <a:cxnLst/>
              <a:rect r="r" b="b" t="t" l="l"/>
              <a:pathLst>
                <a:path h="6711188" w="10858881">
                  <a:moveTo>
                    <a:pt x="0" y="0"/>
                  </a:moveTo>
                  <a:lnTo>
                    <a:pt x="10858881" y="0"/>
                  </a:lnTo>
                  <a:lnTo>
                    <a:pt x="10858881" y="6711188"/>
                  </a:lnTo>
                  <a:lnTo>
                    <a:pt x="0" y="6711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936" t="0" r="-493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8386" y="594274"/>
            <a:ext cx="10842070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3A3A3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Talk to Your Restaurant. Ask Anything.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8386" y="6896995"/>
            <a:ext cx="3313867" cy="32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AI Voice Ordering Agent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8386" y="7318477"/>
            <a:ext cx="8144170" cy="237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Handles inbound calls end-to-end</a:t>
            </a:r>
          </a:p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Speech-to-Text and Text-to-Speech pipeline</a:t>
            </a:r>
          </a:p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Multilingual (Hindi, English, mixed)</a:t>
            </a:r>
          </a:p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Fuzzy menu item matching</a:t>
            </a:r>
          </a:p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Mid-call upsell logic based on revenue rules</a:t>
            </a:r>
          </a:p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Full call logging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65444" y="6896995"/>
            <a:ext cx="3381375" cy="32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4C4C4C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Revenue Copilot Chatbot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65444" y="7318477"/>
            <a:ext cx="8144170" cy="237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Natural language Q&amp;A over live analytics data</a:t>
            </a:r>
          </a:p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RAG-powered — answers grounded in real data, not guesses</a:t>
            </a:r>
          </a:p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NL-to-SQL for direct database queries</a:t>
            </a:r>
          </a:p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Example: "Which items have highest margin per prep minute?"</a:t>
            </a:r>
          </a:p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Example: "Which combos should I promote tonight?"</a:t>
            </a:r>
          </a:p>
          <a:p>
            <a:pPr algn="l" marL="254496" indent="-127248" lvl="1">
              <a:lnSpc>
                <a:spcPts val="2562"/>
              </a:lnSpc>
              <a:buFont typeface="Arial"/>
              <a:buChar char="•"/>
            </a:pPr>
            <a:r>
              <a:rPr lang="en-US" sz="16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Example: "Why are Monday revenues low?"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54559"/>
            <a:ext cx="9100542" cy="74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3A3A3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What Makes पेटBOT Different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149498"/>
            <a:ext cx="16303523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Four technical differentiators that transform raw orders into revenue intelligence.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7951" y="3896916"/>
            <a:ext cx="8056359" cy="2308917"/>
            <a:chOff x="0" y="0"/>
            <a:chExt cx="10741812" cy="30785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10703688" cy="3040507"/>
            </a:xfrm>
            <a:custGeom>
              <a:avLst/>
              <a:gdLst/>
              <a:ahLst/>
              <a:cxnLst/>
              <a:rect r="r" b="b" t="t" l="l"/>
              <a:pathLst>
                <a:path h="3040507" w="10703688">
                  <a:moveTo>
                    <a:pt x="0" y="182880"/>
                  </a:moveTo>
                  <a:cubicBezTo>
                    <a:pt x="0" y="81915"/>
                    <a:pt x="82550" y="0"/>
                    <a:pt x="184531" y="0"/>
                  </a:cubicBezTo>
                  <a:lnTo>
                    <a:pt x="10519156" y="0"/>
                  </a:lnTo>
                  <a:cubicBezTo>
                    <a:pt x="10621011" y="0"/>
                    <a:pt x="10703688" y="81915"/>
                    <a:pt x="10703688" y="182880"/>
                  </a:cubicBezTo>
                  <a:lnTo>
                    <a:pt x="10703688" y="2857627"/>
                  </a:lnTo>
                  <a:cubicBezTo>
                    <a:pt x="10703688" y="2958592"/>
                    <a:pt x="10621138" y="3040507"/>
                    <a:pt x="10519156" y="3040507"/>
                  </a:cubicBezTo>
                  <a:lnTo>
                    <a:pt x="184531" y="3040507"/>
                  </a:lnTo>
                  <a:cubicBezTo>
                    <a:pt x="82677" y="3040507"/>
                    <a:pt x="0" y="2958592"/>
                    <a:pt x="0" y="2857627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41788" cy="3078607"/>
            </a:xfrm>
            <a:custGeom>
              <a:avLst/>
              <a:gdLst/>
              <a:ahLst/>
              <a:cxnLst/>
              <a:rect r="r" b="b" t="t" l="l"/>
              <a:pathLst>
                <a:path h="3078607" w="10741788">
                  <a:moveTo>
                    <a:pt x="0" y="201930"/>
                  </a:moveTo>
                  <a:cubicBezTo>
                    <a:pt x="0" y="90297"/>
                    <a:pt x="91313" y="0"/>
                    <a:pt x="203581" y="0"/>
                  </a:cubicBezTo>
                  <a:lnTo>
                    <a:pt x="10538206" y="0"/>
                  </a:lnTo>
                  <a:lnTo>
                    <a:pt x="10538206" y="19050"/>
                  </a:lnTo>
                  <a:lnTo>
                    <a:pt x="10538206" y="0"/>
                  </a:lnTo>
                  <a:cubicBezTo>
                    <a:pt x="10650475" y="0"/>
                    <a:pt x="10741788" y="90297"/>
                    <a:pt x="10741788" y="201930"/>
                  </a:cubicBezTo>
                  <a:lnTo>
                    <a:pt x="10722738" y="201930"/>
                  </a:lnTo>
                  <a:lnTo>
                    <a:pt x="10741788" y="201930"/>
                  </a:lnTo>
                  <a:lnTo>
                    <a:pt x="10741788" y="2876677"/>
                  </a:lnTo>
                  <a:lnTo>
                    <a:pt x="10722738" y="2876677"/>
                  </a:lnTo>
                  <a:lnTo>
                    <a:pt x="10741788" y="2876677"/>
                  </a:lnTo>
                  <a:cubicBezTo>
                    <a:pt x="10741788" y="2988310"/>
                    <a:pt x="10650475" y="3078607"/>
                    <a:pt x="10538206" y="3078607"/>
                  </a:cubicBezTo>
                  <a:lnTo>
                    <a:pt x="10538206" y="3059557"/>
                  </a:lnTo>
                  <a:lnTo>
                    <a:pt x="10538206" y="3078607"/>
                  </a:lnTo>
                  <a:lnTo>
                    <a:pt x="203581" y="3078607"/>
                  </a:lnTo>
                  <a:lnTo>
                    <a:pt x="203581" y="3059557"/>
                  </a:lnTo>
                  <a:lnTo>
                    <a:pt x="203581" y="3078607"/>
                  </a:lnTo>
                  <a:cubicBezTo>
                    <a:pt x="91313" y="3078607"/>
                    <a:pt x="0" y="2988310"/>
                    <a:pt x="0" y="287667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876677"/>
                  </a:lnTo>
                  <a:lnTo>
                    <a:pt x="19050" y="2876677"/>
                  </a:lnTo>
                  <a:lnTo>
                    <a:pt x="38100" y="2876677"/>
                  </a:lnTo>
                  <a:cubicBezTo>
                    <a:pt x="38100" y="2966974"/>
                    <a:pt x="112014" y="3040507"/>
                    <a:pt x="203581" y="3040507"/>
                  </a:cubicBezTo>
                  <a:lnTo>
                    <a:pt x="10538206" y="3040507"/>
                  </a:lnTo>
                  <a:cubicBezTo>
                    <a:pt x="10629774" y="3040507"/>
                    <a:pt x="10703688" y="2966974"/>
                    <a:pt x="10703688" y="2876677"/>
                  </a:cubicBezTo>
                  <a:lnTo>
                    <a:pt x="10703688" y="201930"/>
                  </a:lnTo>
                  <a:cubicBezTo>
                    <a:pt x="10703688" y="111633"/>
                    <a:pt x="10629774" y="38100"/>
                    <a:pt x="10538206" y="38100"/>
                  </a:cubicBezTo>
                  <a:lnTo>
                    <a:pt x="203581" y="38100"/>
                  </a:lnTo>
                  <a:lnTo>
                    <a:pt x="203581" y="19050"/>
                  </a:lnTo>
                  <a:lnTo>
                    <a:pt x="203581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3663" y="3911203"/>
            <a:ext cx="114300" cy="2280342"/>
            <a:chOff x="0" y="0"/>
            <a:chExt cx="152400" cy="30404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" cy="3040507"/>
            </a:xfrm>
            <a:custGeom>
              <a:avLst/>
              <a:gdLst/>
              <a:ahLst/>
              <a:cxnLst/>
              <a:rect r="r" b="b" t="t" l="l"/>
              <a:pathLst>
                <a:path h="3040507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964307"/>
                  </a:lnTo>
                  <a:cubicBezTo>
                    <a:pt x="152400" y="3006344"/>
                    <a:pt x="118237" y="3040507"/>
                    <a:pt x="76200" y="3040507"/>
                  </a:cubicBezTo>
                  <a:cubicBezTo>
                    <a:pt x="34163" y="3040507"/>
                    <a:pt x="0" y="3006344"/>
                    <a:pt x="0" y="2964307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54484" y="4197248"/>
            <a:ext cx="3405778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Hidden Gold Detection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4484" y="4638523"/>
            <a:ext cx="7389019" cy="127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Identifies high-margin, low-visibility items using a CM-per-prep-minute algorithm. Tiramisu: ₹32.50/min but only 35 popularity score.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53690" y="3896916"/>
            <a:ext cx="8056359" cy="2308917"/>
            <a:chOff x="0" y="0"/>
            <a:chExt cx="10741812" cy="30785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10703688" cy="3040507"/>
            </a:xfrm>
            <a:custGeom>
              <a:avLst/>
              <a:gdLst/>
              <a:ahLst/>
              <a:cxnLst/>
              <a:rect r="r" b="b" t="t" l="l"/>
              <a:pathLst>
                <a:path h="3040507" w="10703688">
                  <a:moveTo>
                    <a:pt x="0" y="182880"/>
                  </a:moveTo>
                  <a:cubicBezTo>
                    <a:pt x="0" y="81915"/>
                    <a:pt x="82550" y="0"/>
                    <a:pt x="184531" y="0"/>
                  </a:cubicBezTo>
                  <a:lnTo>
                    <a:pt x="10519156" y="0"/>
                  </a:lnTo>
                  <a:cubicBezTo>
                    <a:pt x="10621011" y="0"/>
                    <a:pt x="10703688" y="81915"/>
                    <a:pt x="10703688" y="182880"/>
                  </a:cubicBezTo>
                  <a:lnTo>
                    <a:pt x="10703688" y="2857627"/>
                  </a:lnTo>
                  <a:cubicBezTo>
                    <a:pt x="10703688" y="2958592"/>
                    <a:pt x="10621138" y="3040507"/>
                    <a:pt x="10519156" y="3040507"/>
                  </a:cubicBezTo>
                  <a:lnTo>
                    <a:pt x="184531" y="3040507"/>
                  </a:lnTo>
                  <a:cubicBezTo>
                    <a:pt x="82677" y="3040507"/>
                    <a:pt x="0" y="2958592"/>
                    <a:pt x="0" y="2857627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41788" cy="3078607"/>
            </a:xfrm>
            <a:custGeom>
              <a:avLst/>
              <a:gdLst/>
              <a:ahLst/>
              <a:cxnLst/>
              <a:rect r="r" b="b" t="t" l="l"/>
              <a:pathLst>
                <a:path h="3078607" w="10741788">
                  <a:moveTo>
                    <a:pt x="0" y="201930"/>
                  </a:moveTo>
                  <a:cubicBezTo>
                    <a:pt x="0" y="90297"/>
                    <a:pt x="91313" y="0"/>
                    <a:pt x="203581" y="0"/>
                  </a:cubicBezTo>
                  <a:lnTo>
                    <a:pt x="10538206" y="0"/>
                  </a:lnTo>
                  <a:lnTo>
                    <a:pt x="10538206" y="19050"/>
                  </a:lnTo>
                  <a:lnTo>
                    <a:pt x="10538206" y="0"/>
                  </a:lnTo>
                  <a:cubicBezTo>
                    <a:pt x="10650475" y="0"/>
                    <a:pt x="10741788" y="90297"/>
                    <a:pt x="10741788" y="201930"/>
                  </a:cubicBezTo>
                  <a:lnTo>
                    <a:pt x="10722738" y="201930"/>
                  </a:lnTo>
                  <a:lnTo>
                    <a:pt x="10741788" y="201930"/>
                  </a:lnTo>
                  <a:lnTo>
                    <a:pt x="10741788" y="2876677"/>
                  </a:lnTo>
                  <a:lnTo>
                    <a:pt x="10722738" y="2876677"/>
                  </a:lnTo>
                  <a:lnTo>
                    <a:pt x="10741788" y="2876677"/>
                  </a:lnTo>
                  <a:cubicBezTo>
                    <a:pt x="10741788" y="2988310"/>
                    <a:pt x="10650475" y="3078607"/>
                    <a:pt x="10538206" y="3078607"/>
                  </a:cubicBezTo>
                  <a:lnTo>
                    <a:pt x="10538206" y="3059557"/>
                  </a:lnTo>
                  <a:lnTo>
                    <a:pt x="10538206" y="3078607"/>
                  </a:lnTo>
                  <a:lnTo>
                    <a:pt x="203581" y="3078607"/>
                  </a:lnTo>
                  <a:lnTo>
                    <a:pt x="203581" y="3059557"/>
                  </a:lnTo>
                  <a:lnTo>
                    <a:pt x="203581" y="3078607"/>
                  </a:lnTo>
                  <a:cubicBezTo>
                    <a:pt x="91313" y="3078607"/>
                    <a:pt x="0" y="2988310"/>
                    <a:pt x="0" y="2876677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876677"/>
                  </a:lnTo>
                  <a:lnTo>
                    <a:pt x="19050" y="2876677"/>
                  </a:lnTo>
                  <a:lnTo>
                    <a:pt x="38100" y="2876677"/>
                  </a:lnTo>
                  <a:cubicBezTo>
                    <a:pt x="38100" y="2966974"/>
                    <a:pt x="112014" y="3040507"/>
                    <a:pt x="203581" y="3040507"/>
                  </a:cubicBezTo>
                  <a:lnTo>
                    <a:pt x="10538206" y="3040507"/>
                  </a:lnTo>
                  <a:cubicBezTo>
                    <a:pt x="10629774" y="3040507"/>
                    <a:pt x="10703688" y="2966974"/>
                    <a:pt x="10703688" y="2876677"/>
                  </a:cubicBezTo>
                  <a:lnTo>
                    <a:pt x="10703688" y="201930"/>
                  </a:lnTo>
                  <a:cubicBezTo>
                    <a:pt x="10703688" y="111633"/>
                    <a:pt x="10629774" y="38100"/>
                    <a:pt x="10538206" y="38100"/>
                  </a:cubicBezTo>
                  <a:lnTo>
                    <a:pt x="203581" y="38100"/>
                  </a:lnTo>
                  <a:lnTo>
                    <a:pt x="203581" y="19050"/>
                  </a:lnTo>
                  <a:lnTo>
                    <a:pt x="203581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39402" y="3911203"/>
            <a:ext cx="114300" cy="2280342"/>
            <a:chOff x="0" y="0"/>
            <a:chExt cx="152400" cy="3040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3040507"/>
            </a:xfrm>
            <a:custGeom>
              <a:avLst/>
              <a:gdLst/>
              <a:ahLst/>
              <a:cxnLst/>
              <a:rect r="r" b="b" t="t" l="l"/>
              <a:pathLst>
                <a:path h="3040507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964307"/>
                  </a:lnTo>
                  <a:cubicBezTo>
                    <a:pt x="152400" y="3006344"/>
                    <a:pt x="118237" y="3040507"/>
                    <a:pt x="76200" y="3040507"/>
                  </a:cubicBezTo>
                  <a:cubicBezTo>
                    <a:pt x="34163" y="3040507"/>
                    <a:pt x="0" y="3006344"/>
                    <a:pt x="0" y="2964307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30223" y="4197248"/>
            <a:ext cx="3215430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RAG-Powered Copilot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30223" y="4638523"/>
            <a:ext cx="7389019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Retrieval Augmented Generation grounds every answer in the restaurant's actual data — no hallucinations.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77951" y="6425203"/>
            <a:ext cx="8056359" cy="1911991"/>
            <a:chOff x="0" y="0"/>
            <a:chExt cx="10741812" cy="25493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19050"/>
              <a:ext cx="10703814" cy="2511298"/>
            </a:xfrm>
            <a:custGeom>
              <a:avLst/>
              <a:gdLst/>
              <a:ahLst/>
              <a:cxnLst/>
              <a:rect r="r" b="b" t="t" l="l"/>
              <a:pathLst>
                <a:path h="2511298" w="10703814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10518775" y="0"/>
                  </a:lnTo>
                  <a:cubicBezTo>
                    <a:pt x="10620883" y="0"/>
                    <a:pt x="10703814" y="81915"/>
                    <a:pt x="10703814" y="182880"/>
                  </a:cubicBezTo>
                  <a:lnTo>
                    <a:pt x="10703814" y="2328418"/>
                  </a:lnTo>
                  <a:cubicBezTo>
                    <a:pt x="10703814" y="2429383"/>
                    <a:pt x="10621010" y="2511298"/>
                    <a:pt x="10518775" y="2511298"/>
                  </a:cubicBezTo>
                  <a:lnTo>
                    <a:pt x="185039" y="2511298"/>
                  </a:lnTo>
                  <a:cubicBezTo>
                    <a:pt x="82931" y="2511298"/>
                    <a:pt x="0" y="2429383"/>
                    <a:pt x="0" y="2328418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41914" cy="2549398"/>
            </a:xfrm>
            <a:custGeom>
              <a:avLst/>
              <a:gdLst/>
              <a:ahLst/>
              <a:cxnLst/>
              <a:rect r="r" b="b" t="t" l="l"/>
              <a:pathLst>
                <a:path h="2549398" w="10741914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10537825" y="0"/>
                  </a:lnTo>
                  <a:lnTo>
                    <a:pt x="10537825" y="19050"/>
                  </a:lnTo>
                  <a:lnTo>
                    <a:pt x="10537825" y="0"/>
                  </a:lnTo>
                  <a:cubicBezTo>
                    <a:pt x="10650347" y="0"/>
                    <a:pt x="10741914" y="90170"/>
                    <a:pt x="10741914" y="201930"/>
                  </a:cubicBezTo>
                  <a:lnTo>
                    <a:pt x="10722864" y="201930"/>
                  </a:lnTo>
                  <a:lnTo>
                    <a:pt x="10741914" y="201930"/>
                  </a:lnTo>
                  <a:lnTo>
                    <a:pt x="10741914" y="2347468"/>
                  </a:lnTo>
                  <a:lnTo>
                    <a:pt x="10722864" y="2347468"/>
                  </a:lnTo>
                  <a:lnTo>
                    <a:pt x="10741914" y="2347468"/>
                  </a:lnTo>
                  <a:cubicBezTo>
                    <a:pt x="10741914" y="2459228"/>
                    <a:pt x="10650347" y="2549398"/>
                    <a:pt x="10537825" y="2549398"/>
                  </a:cubicBezTo>
                  <a:lnTo>
                    <a:pt x="10537825" y="2530348"/>
                  </a:lnTo>
                  <a:lnTo>
                    <a:pt x="10537825" y="2549398"/>
                  </a:lnTo>
                  <a:lnTo>
                    <a:pt x="204089" y="2549398"/>
                  </a:lnTo>
                  <a:lnTo>
                    <a:pt x="204089" y="2530348"/>
                  </a:lnTo>
                  <a:lnTo>
                    <a:pt x="204089" y="2549398"/>
                  </a:lnTo>
                  <a:cubicBezTo>
                    <a:pt x="91567" y="2549398"/>
                    <a:pt x="0" y="2459228"/>
                    <a:pt x="0" y="234746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47468"/>
                  </a:lnTo>
                  <a:lnTo>
                    <a:pt x="19050" y="2347468"/>
                  </a:lnTo>
                  <a:lnTo>
                    <a:pt x="38100" y="2347468"/>
                  </a:lnTo>
                  <a:cubicBezTo>
                    <a:pt x="38100" y="2437765"/>
                    <a:pt x="112141" y="2511298"/>
                    <a:pt x="204089" y="2511298"/>
                  </a:cubicBezTo>
                  <a:lnTo>
                    <a:pt x="10537825" y="2511298"/>
                  </a:lnTo>
                  <a:cubicBezTo>
                    <a:pt x="10629646" y="2511298"/>
                    <a:pt x="10703814" y="2437765"/>
                    <a:pt x="10703814" y="2347468"/>
                  </a:cubicBezTo>
                  <a:lnTo>
                    <a:pt x="10703814" y="201930"/>
                  </a:lnTo>
                  <a:cubicBezTo>
                    <a:pt x="10703814" y="111633"/>
                    <a:pt x="10629773" y="38100"/>
                    <a:pt x="10537825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63663" y="6439491"/>
            <a:ext cx="114300" cy="1883416"/>
            <a:chOff x="0" y="0"/>
            <a:chExt cx="152400" cy="25112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2400" cy="2511171"/>
            </a:xfrm>
            <a:custGeom>
              <a:avLst/>
              <a:gdLst/>
              <a:ahLst/>
              <a:cxnLst/>
              <a:rect r="r" b="b" t="t" l="l"/>
              <a:pathLst>
                <a:path h="2511171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34971"/>
                  </a:lnTo>
                  <a:cubicBezTo>
                    <a:pt x="152400" y="2477008"/>
                    <a:pt x="118237" y="2511171"/>
                    <a:pt x="76200" y="2511171"/>
                  </a:cubicBezTo>
                  <a:cubicBezTo>
                    <a:pt x="34163" y="2511171"/>
                    <a:pt x="0" y="2477008"/>
                    <a:pt x="0" y="2434971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54484" y="6725545"/>
            <a:ext cx="3402654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Real-Time Voice Upsell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4484" y="7166820"/>
            <a:ext cx="7389019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The voice agent applies revenue-aware upsell scripts mid-call, increasing average order value automatically.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53690" y="6425203"/>
            <a:ext cx="8056359" cy="1911991"/>
            <a:chOff x="0" y="0"/>
            <a:chExt cx="10741812" cy="25493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9050" y="19050"/>
              <a:ext cx="10703814" cy="2511298"/>
            </a:xfrm>
            <a:custGeom>
              <a:avLst/>
              <a:gdLst/>
              <a:ahLst/>
              <a:cxnLst/>
              <a:rect r="r" b="b" t="t" l="l"/>
              <a:pathLst>
                <a:path h="2511298" w="10703814">
                  <a:moveTo>
                    <a:pt x="0" y="182880"/>
                  </a:moveTo>
                  <a:cubicBezTo>
                    <a:pt x="0" y="81915"/>
                    <a:pt x="82804" y="0"/>
                    <a:pt x="185039" y="0"/>
                  </a:cubicBezTo>
                  <a:lnTo>
                    <a:pt x="10518775" y="0"/>
                  </a:lnTo>
                  <a:cubicBezTo>
                    <a:pt x="10620883" y="0"/>
                    <a:pt x="10703814" y="81915"/>
                    <a:pt x="10703814" y="182880"/>
                  </a:cubicBezTo>
                  <a:lnTo>
                    <a:pt x="10703814" y="2328418"/>
                  </a:lnTo>
                  <a:cubicBezTo>
                    <a:pt x="10703814" y="2429383"/>
                    <a:pt x="10621010" y="2511298"/>
                    <a:pt x="10518775" y="2511298"/>
                  </a:cubicBezTo>
                  <a:lnTo>
                    <a:pt x="185039" y="2511298"/>
                  </a:lnTo>
                  <a:cubicBezTo>
                    <a:pt x="82931" y="2511298"/>
                    <a:pt x="0" y="2429383"/>
                    <a:pt x="0" y="2328418"/>
                  </a:cubicBezTo>
                  <a:close/>
                </a:path>
              </a:pathLst>
            </a:custGeom>
            <a:solidFill>
              <a:srgbClr val="FDFBF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41914" cy="2549398"/>
            </a:xfrm>
            <a:custGeom>
              <a:avLst/>
              <a:gdLst/>
              <a:ahLst/>
              <a:cxnLst/>
              <a:rect r="r" b="b" t="t" l="l"/>
              <a:pathLst>
                <a:path h="2549398" w="10741914">
                  <a:moveTo>
                    <a:pt x="0" y="201930"/>
                  </a:moveTo>
                  <a:cubicBezTo>
                    <a:pt x="0" y="90170"/>
                    <a:pt x="91567" y="0"/>
                    <a:pt x="204089" y="0"/>
                  </a:cubicBezTo>
                  <a:lnTo>
                    <a:pt x="10537825" y="0"/>
                  </a:lnTo>
                  <a:lnTo>
                    <a:pt x="10537825" y="19050"/>
                  </a:lnTo>
                  <a:lnTo>
                    <a:pt x="10537825" y="0"/>
                  </a:lnTo>
                  <a:cubicBezTo>
                    <a:pt x="10650347" y="0"/>
                    <a:pt x="10741914" y="90170"/>
                    <a:pt x="10741914" y="201930"/>
                  </a:cubicBezTo>
                  <a:lnTo>
                    <a:pt x="10722864" y="201930"/>
                  </a:lnTo>
                  <a:lnTo>
                    <a:pt x="10741914" y="201930"/>
                  </a:lnTo>
                  <a:lnTo>
                    <a:pt x="10741914" y="2347468"/>
                  </a:lnTo>
                  <a:lnTo>
                    <a:pt x="10722864" y="2347468"/>
                  </a:lnTo>
                  <a:lnTo>
                    <a:pt x="10741914" y="2347468"/>
                  </a:lnTo>
                  <a:cubicBezTo>
                    <a:pt x="10741914" y="2459228"/>
                    <a:pt x="10650347" y="2549398"/>
                    <a:pt x="10537825" y="2549398"/>
                  </a:cubicBezTo>
                  <a:lnTo>
                    <a:pt x="10537825" y="2530348"/>
                  </a:lnTo>
                  <a:lnTo>
                    <a:pt x="10537825" y="2549398"/>
                  </a:lnTo>
                  <a:lnTo>
                    <a:pt x="204089" y="2549398"/>
                  </a:lnTo>
                  <a:lnTo>
                    <a:pt x="204089" y="2530348"/>
                  </a:lnTo>
                  <a:lnTo>
                    <a:pt x="204089" y="2549398"/>
                  </a:lnTo>
                  <a:cubicBezTo>
                    <a:pt x="91567" y="2549398"/>
                    <a:pt x="0" y="2459228"/>
                    <a:pt x="0" y="234746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47468"/>
                  </a:lnTo>
                  <a:lnTo>
                    <a:pt x="19050" y="2347468"/>
                  </a:lnTo>
                  <a:lnTo>
                    <a:pt x="38100" y="2347468"/>
                  </a:lnTo>
                  <a:cubicBezTo>
                    <a:pt x="38100" y="2437765"/>
                    <a:pt x="112141" y="2511298"/>
                    <a:pt x="204089" y="2511298"/>
                  </a:cubicBezTo>
                  <a:lnTo>
                    <a:pt x="10537825" y="2511298"/>
                  </a:lnTo>
                  <a:cubicBezTo>
                    <a:pt x="10629646" y="2511298"/>
                    <a:pt x="10703814" y="2437765"/>
                    <a:pt x="10703814" y="2347468"/>
                  </a:cubicBezTo>
                  <a:lnTo>
                    <a:pt x="10703814" y="201930"/>
                  </a:lnTo>
                  <a:cubicBezTo>
                    <a:pt x="10703814" y="111633"/>
                    <a:pt x="10629773" y="38100"/>
                    <a:pt x="10537825" y="38100"/>
                  </a:cubicBezTo>
                  <a:lnTo>
                    <a:pt x="204089" y="38100"/>
                  </a:lnTo>
                  <a:lnTo>
                    <a:pt x="204089" y="19050"/>
                  </a:lnTo>
                  <a:lnTo>
                    <a:pt x="204089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39402" y="6439491"/>
            <a:ext cx="114300" cy="1883416"/>
            <a:chOff x="0" y="0"/>
            <a:chExt cx="152400" cy="251122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2400" cy="2511171"/>
            </a:xfrm>
            <a:custGeom>
              <a:avLst/>
              <a:gdLst/>
              <a:ahLst/>
              <a:cxnLst/>
              <a:rect r="r" b="b" t="t" l="l"/>
              <a:pathLst>
                <a:path h="2511171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34971"/>
                  </a:lnTo>
                  <a:cubicBezTo>
                    <a:pt x="152400" y="2477008"/>
                    <a:pt x="118237" y="2511171"/>
                    <a:pt x="76200" y="2511171"/>
                  </a:cubicBezTo>
                  <a:cubicBezTo>
                    <a:pt x="34163" y="2511171"/>
                    <a:pt x="0" y="2477008"/>
                    <a:pt x="0" y="2434971"/>
                  </a:cubicBez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630223" y="6725545"/>
            <a:ext cx="3101130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NL-to-SQL Engine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30223" y="7166820"/>
            <a:ext cx="7389019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Owners query their own database in plain English without writing a single line of SQL.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670419"/>
            <a:ext cx="11709678" cy="74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3A3A3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Revenue Outcomes, Not Just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865359"/>
            <a:ext cx="16303523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Three quantified impact scenarios showing how पेट-bot drives measurable revenue increases.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865341"/>
            <a:ext cx="5227739" cy="70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₹4,875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0913" y="5889279"/>
            <a:ext cx="3570389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Hidden Gold Promotion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330553"/>
            <a:ext cx="5227739" cy="127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Pushing Tiramisu (₹32.50/prep-min) into 5 extra daily upsells = additional monthly margin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29978" y="4865341"/>
            <a:ext cx="5227882" cy="70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₹4,500+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93359" y="5889279"/>
            <a:ext cx="3101130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Price Optimisation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29978" y="6330553"/>
            <a:ext cx="5227882" cy="127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Raising Makki di Roti by ₹15 (lowest elasticity item) = incremental monthly revenue with near-zero demand loss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67880" y="4865341"/>
            <a:ext cx="5227882" cy="70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7"/>
              </a:lnSpc>
            </a:pPr>
            <a:r>
              <a:rPr lang="en-US" sz="6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₹740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97170" y="5889279"/>
            <a:ext cx="3169291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Peak Hour Readiness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67880" y="6330553"/>
            <a:ext cx="5227882" cy="127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Preventing one Butter Chicken (₹247 CM) stockout during 20:00 peak = up to saved per service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24165"/>
            <a:ext cx="8254246" cy="74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3A3A3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Built for Every Restaurant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38323"/>
            <a:ext cx="3101130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Frontend &amp; Backend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578723"/>
            <a:ext cx="7849191" cy="3868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Next.js 16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React 19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TypeScript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Node.js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PostgreSQL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Redis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BullMQ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Docker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6096" y="3038323"/>
            <a:ext cx="3101130" cy="37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AI &amp; Voice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6096" y="3578723"/>
            <a:ext cx="7849191" cy="290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OpenAI / Groq LLM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RAG + Vector Store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NL-to-SQL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Python STT/TTS Pipeline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Fuzzy Matching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WebSocket Voice Server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7936963"/>
            <a:ext cx="16303523" cy="40481"/>
            <a:chOff x="0" y="0"/>
            <a:chExt cx="21738031" cy="53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38082" cy="53975"/>
            </a:xfrm>
            <a:custGeom>
              <a:avLst/>
              <a:gdLst/>
              <a:ahLst/>
              <a:cxnLst/>
              <a:rect r="r" b="b" t="t" l="l"/>
              <a:pathLst>
                <a:path h="53975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53975"/>
                  </a:lnTo>
                  <a:lnTo>
                    <a:pt x="0" y="53975"/>
                  </a:lnTo>
                  <a:close/>
                </a:path>
              </a:pathLst>
            </a:custGeom>
            <a:solidFill>
              <a:srgbClr val="4C4C4C">
                <a:alpha val="24706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238" y="8170659"/>
            <a:ext cx="16303523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Every chart. Every insight. Every rupee — tracked.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60349" y="3258921"/>
            <a:ext cx="12602052" cy="234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53"/>
              </a:lnSpc>
            </a:pPr>
            <a:r>
              <a:rPr lang="en-US" sz="15000" b="true">
                <a:solidFill>
                  <a:srgbClr val="3A3A3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DAHDPaZ0N-k</dc:identifier>
  <dcterms:modified xsi:type="dcterms:W3CDTF">2011-08-01T06:04:30Z</dcterms:modified>
  <cp:revision>1</cp:revision>
  <dc:title>PET POOJA : COSMOSAPIENS</dc:title>
</cp:coreProperties>
</file>